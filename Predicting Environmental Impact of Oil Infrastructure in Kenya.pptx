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Lst>
  <p:notesMasterIdLst>
    <p:notesMasterId r:id="rId30"/>
  </p:notesMasterIdLst>
  <p:sldIdLst>
    <p:sldId id="256" r:id="rId2"/>
    <p:sldId id="275" r:id="rId3"/>
    <p:sldId id="270" r:id="rId4"/>
    <p:sldId id="286" r:id="rId5"/>
    <p:sldId id="266" r:id="rId6"/>
    <p:sldId id="272" r:id="rId7"/>
    <p:sldId id="268" r:id="rId8"/>
    <p:sldId id="274" r:id="rId9"/>
    <p:sldId id="269" r:id="rId10"/>
    <p:sldId id="260" r:id="rId11"/>
    <p:sldId id="287" r:id="rId12"/>
    <p:sldId id="265" r:id="rId13"/>
    <p:sldId id="289" r:id="rId14"/>
    <p:sldId id="281" r:id="rId15"/>
    <p:sldId id="283" r:id="rId16"/>
    <p:sldId id="300" r:id="rId17"/>
    <p:sldId id="299" r:id="rId18"/>
    <p:sldId id="284" r:id="rId19"/>
    <p:sldId id="301" r:id="rId20"/>
    <p:sldId id="302" r:id="rId21"/>
    <p:sldId id="303" r:id="rId22"/>
    <p:sldId id="263" r:id="rId23"/>
    <p:sldId id="304" r:id="rId24"/>
    <p:sldId id="288" r:id="rId25"/>
    <p:sldId id="285" r:id="rId26"/>
    <p:sldId id="291" r:id="rId27"/>
    <p:sldId id="292" r:id="rId28"/>
    <p:sldId id="264" r:id="rId29"/>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2654" autoAdjust="0"/>
  </p:normalViewPr>
  <p:slideViewPr>
    <p:cSldViewPr snapToGrid="0">
      <p:cViewPr varScale="1">
        <p:scale>
          <a:sx n="63" d="100"/>
          <a:sy n="63" d="100"/>
        </p:scale>
        <p:origin x="102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BCB941-D6E4-49D5-B6E1-6C388ABCBC8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494A935-B31D-43A2-AF81-280D22F26E25}">
      <dgm:prSet/>
      <dgm:spPr/>
      <dgm:t>
        <a:bodyPr/>
        <a:lstStyle/>
        <a:p>
          <a:pPr>
            <a:lnSpc>
              <a:spcPct val="100000"/>
            </a:lnSpc>
          </a:pPr>
          <a:r>
            <a:rPr lang="en-GB" b="1" dirty="0">
              <a:solidFill>
                <a:schemeClr val="bg1"/>
              </a:solidFill>
            </a:rPr>
            <a:t>Stacking (Stacked Generalization)</a:t>
          </a:r>
          <a:r>
            <a:rPr lang="en-GB" dirty="0">
              <a:solidFill>
                <a:schemeClr val="bg1"/>
              </a:solidFill>
            </a:rPr>
            <a:t> is an ensemble technique that combines predictions from multiple base models to improve generalization</a:t>
          </a:r>
          <a:endParaRPr lang="en-US" dirty="0">
            <a:solidFill>
              <a:schemeClr val="bg1"/>
            </a:solidFill>
          </a:endParaRPr>
        </a:p>
      </dgm:t>
    </dgm:pt>
    <dgm:pt modelId="{706A367F-208E-415D-A464-4D46414F7F8C}" type="parTrans" cxnId="{D81C0F36-9230-4B5B-9A9A-FDF25A9C8A93}">
      <dgm:prSet/>
      <dgm:spPr/>
      <dgm:t>
        <a:bodyPr/>
        <a:lstStyle/>
        <a:p>
          <a:endParaRPr lang="en-US"/>
        </a:p>
      </dgm:t>
    </dgm:pt>
    <dgm:pt modelId="{2332AB6D-720C-4290-8A6B-BA6A97F87B5F}" type="sibTrans" cxnId="{D81C0F36-9230-4B5B-9A9A-FDF25A9C8A93}">
      <dgm:prSet/>
      <dgm:spPr/>
      <dgm:t>
        <a:bodyPr/>
        <a:lstStyle/>
        <a:p>
          <a:endParaRPr lang="en-US"/>
        </a:p>
      </dgm:t>
    </dgm:pt>
    <dgm:pt modelId="{017CAC05-FA73-46C8-8985-06D57360A8B6}">
      <dgm:prSet/>
      <dgm:spPr/>
      <dgm:t>
        <a:bodyPr/>
        <a:lstStyle/>
        <a:p>
          <a:pPr>
            <a:lnSpc>
              <a:spcPct val="100000"/>
            </a:lnSpc>
          </a:pPr>
          <a:r>
            <a:rPr lang="en-GB" b="1" dirty="0">
              <a:solidFill>
                <a:schemeClr val="bg1"/>
              </a:solidFill>
            </a:rPr>
            <a:t>Goal:</a:t>
          </a:r>
          <a:r>
            <a:rPr lang="en-GB" dirty="0">
              <a:solidFill>
                <a:schemeClr val="bg1"/>
              </a:solidFill>
            </a:rPr>
            <a:t> Capture different types of learning patterns and reduce individual model weaknesses</a:t>
          </a:r>
          <a:r>
            <a:rPr lang="en-GB" dirty="0"/>
            <a:t>.</a:t>
          </a:r>
          <a:endParaRPr lang="en-US" dirty="0"/>
        </a:p>
      </dgm:t>
    </dgm:pt>
    <dgm:pt modelId="{7AABA33F-DEB9-4061-A73E-3F387329FC9B}" type="parTrans" cxnId="{FE5AB8BE-7922-43F5-82AB-8EC0B9463326}">
      <dgm:prSet/>
      <dgm:spPr/>
      <dgm:t>
        <a:bodyPr/>
        <a:lstStyle/>
        <a:p>
          <a:endParaRPr lang="en-US"/>
        </a:p>
      </dgm:t>
    </dgm:pt>
    <dgm:pt modelId="{CD1040DE-0924-4A50-ABF5-5CAC7B74E8C6}" type="sibTrans" cxnId="{FE5AB8BE-7922-43F5-82AB-8EC0B9463326}">
      <dgm:prSet/>
      <dgm:spPr/>
      <dgm:t>
        <a:bodyPr/>
        <a:lstStyle/>
        <a:p>
          <a:endParaRPr lang="en-US"/>
        </a:p>
      </dgm:t>
    </dgm:pt>
    <dgm:pt modelId="{25E519D0-12FA-4060-9AE4-624B727697F1}">
      <dgm:prSet/>
      <dgm:spPr/>
      <dgm:t>
        <a:bodyPr/>
        <a:lstStyle/>
        <a:p>
          <a:pPr>
            <a:lnSpc>
              <a:spcPct val="100000"/>
            </a:lnSpc>
          </a:pPr>
          <a:r>
            <a:rPr lang="en-GB" b="1" dirty="0">
              <a:solidFill>
                <a:schemeClr val="bg1"/>
              </a:solidFill>
            </a:rPr>
            <a:t>Approach:</a:t>
          </a:r>
          <a:r>
            <a:rPr lang="en-GB" dirty="0">
              <a:solidFill>
                <a:schemeClr val="bg1"/>
              </a:solidFill>
            </a:rPr>
            <a:t> A </a:t>
          </a:r>
          <a:r>
            <a:rPr lang="en-GB" b="1" dirty="0">
              <a:solidFill>
                <a:schemeClr val="bg1"/>
              </a:solidFill>
            </a:rPr>
            <a:t>meta-model</a:t>
          </a:r>
          <a:r>
            <a:rPr lang="en-GB" dirty="0">
              <a:solidFill>
                <a:schemeClr val="bg1"/>
              </a:solidFill>
            </a:rPr>
            <a:t> learns how to optimally combine base model outputs, often leading to </a:t>
          </a:r>
          <a:r>
            <a:rPr lang="en-GB" b="1" dirty="0">
              <a:solidFill>
                <a:schemeClr val="bg1"/>
              </a:solidFill>
            </a:rPr>
            <a:t>higher predictive power</a:t>
          </a:r>
          <a:r>
            <a:rPr lang="en-GB" dirty="0">
              <a:solidFill>
                <a:schemeClr val="bg1"/>
              </a:solidFill>
            </a:rPr>
            <a:t> than any single model alone.</a:t>
          </a:r>
          <a:endParaRPr lang="en-US" dirty="0">
            <a:solidFill>
              <a:schemeClr val="bg1"/>
            </a:solidFill>
          </a:endParaRPr>
        </a:p>
      </dgm:t>
    </dgm:pt>
    <dgm:pt modelId="{5545DA73-D0B4-43CF-ABDD-030E42B4486A}" type="parTrans" cxnId="{967BCA66-503E-4E1E-8428-E46C2AA06085}">
      <dgm:prSet/>
      <dgm:spPr/>
      <dgm:t>
        <a:bodyPr/>
        <a:lstStyle/>
        <a:p>
          <a:endParaRPr lang="en-US"/>
        </a:p>
      </dgm:t>
    </dgm:pt>
    <dgm:pt modelId="{5FF1BC48-74B0-4887-B58A-05A20EC7AD83}" type="sibTrans" cxnId="{967BCA66-503E-4E1E-8428-E46C2AA06085}">
      <dgm:prSet/>
      <dgm:spPr/>
      <dgm:t>
        <a:bodyPr/>
        <a:lstStyle/>
        <a:p>
          <a:endParaRPr lang="en-US"/>
        </a:p>
      </dgm:t>
    </dgm:pt>
    <dgm:pt modelId="{E33ED58E-3AAF-4296-8A89-F30C9196FCD8}">
      <dgm:prSet/>
      <dgm:spPr/>
      <dgm:t>
        <a:bodyPr/>
        <a:lstStyle/>
        <a:p>
          <a:pPr>
            <a:lnSpc>
              <a:spcPct val="100000"/>
            </a:lnSpc>
          </a:pPr>
          <a:r>
            <a:rPr lang="en-GB" dirty="0">
              <a:solidFill>
                <a:schemeClr val="bg1"/>
              </a:solidFill>
            </a:rPr>
            <a:t>Weighted F1-Score evaluates whether the meta-model effectively combines these predictions, especially for the minority High-risk class, which is critical for decision-making.</a:t>
          </a:r>
          <a:endParaRPr lang="en-US" dirty="0">
            <a:solidFill>
              <a:schemeClr val="bg1"/>
            </a:solidFill>
          </a:endParaRPr>
        </a:p>
      </dgm:t>
    </dgm:pt>
    <dgm:pt modelId="{AE166B7B-1F00-4391-8EE9-5B589B390BF9}" type="parTrans" cxnId="{31E98E88-CA23-4CDA-A016-BAB5FFBF02DE}">
      <dgm:prSet/>
      <dgm:spPr/>
      <dgm:t>
        <a:bodyPr/>
        <a:lstStyle/>
        <a:p>
          <a:endParaRPr lang="en-US"/>
        </a:p>
      </dgm:t>
    </dgm:pt>
    <dgm:pt modelId="{8C11C0CC-F2B0-4114-A857-9C2C42E59C9B}" type="sibTrans" cxnId="{31E98E88-CA23-4CDA-A016-BAB5FFBF02DE}">
      <dgm:prSet/>
      <dgm:spPr/>
      <dgm:t>
        <a:bodyPr/>
        <a:lstStyle/>
        <a:p>
          <a:endParaRPr lang="en-US"/>
        </a:p>
      </dgm:t>
    </dgm:pt>
    <dgm:pt modelId="{CA8E7FE1-B2AF-40B8-BCBD-C428390CE488}" type="pres">
      <dgm:prSet presAssocID="{FABCB941-D6E4-49D5-B6E1-6C388ABCBC8F}" presName="root" presStyleCnt="0">
        <dgm:presLayoutVars>
          <dgm:dir/>
          <dgm:resizeHandles val="exact"/>
        </dgm:presLayoutVars>
      </dgm:prSet>
      <dgm:spPr/>
    </dgm:pt>
    <dgm:pt modelId="{381A5D18-AF54-46FF-906E-0AF5BE5AD050}" type="pres">
      <dgm:prSet presAssocID="{2494A935-B31D-43A2-AF81-280D22F26E25}" presName="compNode" presStyleCnt="0"/>
      <dgm:spPr/>
    </dgm:pt>
    <dgm:pt modelId="{0C5F3004-DE22-4210-9AC3-2AEB62AD26BE}" type="pres">
      <dgm:prSet presAssocID="{2494A935-B31D-43A2-AF81-280D22F26E25}" presName="bgRect" presStyleLbl="bgShp" presStyleIdx="0" presStyleCnt="4"/>
      <dgm:spPr/>
    </dgm:pt>
    <dgm:pt modelId="{96580F22-AF45-4ABE-9F8D-D5340990D6D3}" type="pres">
      <dgm:prSet presAssocID="{2494A935-B31D-43A2-AF81-280D22F26E2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4D51D23D-E264-45C6-9668-5EF6DFFA0CFA}" type="pres">
      <dgm:prSet presAssocID="{2494A935-B31D-43A2-AF81-280D22F26E25}" presName="spaceRect" presStyleCnt="0"/>
      <dgm:spPr/>
    </dgm:pt>
    <dgm:pt modelId="{B3E2A8A5-765F-4088-A73E-6DC1DFA84DB4}" type="pres">
      <dgm:prSet presAssocID="{2494A935-B31D-43A2-AF81-280D22F26E25}" presName="parTx" presStyleLbl="revTx" presStyleIdx="0" presStyleCnt="4">
        <dgm:presLayoutVars>
          <dgm:chMax val="0"/>
          <dgm:chPref val="0"/>
        </dgm:presLayoutVars>
      </dgm:prSet>
      <dgm:spPr/>
    </dgm:pt>
    <dgm:pt modelId="{BF418B18-0879-4C7B-8FD4-80CF40F3D234}" type="pres">
      <dgm:prSet presAssocID="{2332AB6D-720C-4290-8A6B-BA6A97F87B5F}" presName="sibTrans" presStyleCnt="0"/>
      <dgm:spPr/>
    </dgm:pt>
    <dgm:pt modelId="{03A22048-34C8-4444-BA7A-EDEB04B41A7B}" type="pres">
      <dgm:prSet presAssocID="{017CAC05-FA73-46C8-8985-06D57360A8B6}" presName="compNode" presStyleCnt="0"/>
      <dgm:spPr/>
    </dgm:pt>
    <dgm:pt modelId="{F3C346EB-A361-448D-A680-CC2F54F42CC2}" type="pres">
      <dgm:prSet presAssocID="{017CAC05-FA73-46C8-8985-06D57360A8B6}" presName="bgRect" presStyleLbl="bgShp" presStyleIdx="1" presStyleCnt="4"/>
      <dgm:spPr/>
    </dgm:pt>
    <dgm:pt modelId="{46BD979F-0D99-41FB-A016-6F2ACDA35208}" type="pres">
      <dgm:prSet presAssocID="{017CAC05-FA73-46C8-8985-06D57360A8B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rget"/>
        </a:ext>
      </dgm:extLst>
    </dgm:pt>
    <dgm:pt modelId="{777D8827-56C8-4F8C-BBD6-DC4EDAD98547}" type="pres">
      <dgm:prSet presAssocID="{017CAC05-FA73-46C8-8985-06D57360A8B6}" presName="spaceRect" presStyleCnt="0"/>
      <dgm:spPr/>
    </dgm:pt>
    <dgm:pt modelId="{CE48FC93-236F-40FB-B965-EE97DD1B84D3}" type="pres">
      <dgm:prSet presAssocID="{017CAC05-FA73-46C8-8985-06D57360A8B6}" presName="parTx" presStyleLbl="revTx" presStyleIdx="1" presStyleCnt="4">
        <dgm:presLayoutVars>
          <dgm:chMax val="0"/>
          <dgm:chPref val="0"/>
        </dgm:presLayoutVars>
      </dgm:prSet>
      <dgm:spPr/>
    </dgm:pt>
    <dgm:pt modelId="{046FBCE3-5889-4FB5-84E1-E5752AEEA42B}" type="pres">
      <dgm:prSet presAssocID="{CD1040DE-0924-4A50-ABF5-5CAC7B74E8C6}" presName="sibTrans" presStyleCnt="0"/>
      <dgm:spPr/>
    </dgm:pt>
    <dgm:pt modelId="{BF8D5D84-FB74-451D-A38A-D331ABEEA0F7}" type="pres">
      <dgm:prSet presAssocID="{25E519D0-12FA-4060-9AE4-624B727697F1}" presName="compNode" presStyleCnt="0"/>
      <dgm:spPr/>
    </dgm:pt>
    <dgm:pt modelId="{2584DACB-A4F2-4658-8458-49B58F010BAD}" type="pres">
      <dgm:prSet presAssocID="{25E519D0-12FA-4060-9AE4-624B727697F1}" presName="bgRect" presStyleLbl="bgShp" presStyleIdx="2" presStyleCnt="4"/>
      <dgm:spPr/>
    </dgm:pt>
    <dgm:pt modelId="{93B87A70-BB3A-4ACA-9941-7C4CDD0A7218}" type="pres">
      <dgm:prSet presAssocID="{25E519D0-12FA-4060-9AE4-624B727697F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ierarchy"/>
        </a:ext>
      </dgm:extLst>
    </dgm:pt>
    <dgm:pt modelId="{CBF3C2E7-63CF-4611-8D6A-67D6D4D07B85}" type="pres">
      <dgm:prSet presAssocID="{25E519D0-12FA-4060-9AE4-624B727697F1}" presName="spaceRect" presStyleCnt="0"/>
      <dgm:spPr/>
    </dgm:pt>
    <dgm:pt modelId="{71B1A804-39F0-4EA9-BD0F-B272D07C0F6D}" type="pres">
      <dgm:prSet presAssocID="{25E519D0-12FA-4060-9AE4-624B727697F1}" presName="parTx" presStyleLbl="revTx" presStyleIdx="2" presStyleCnt="4">
        <dgm:presLayoutVars>
          <dgm:chMax val="0"/>
          <dgm:chPref val="0"/>
        </dgm:presLayoutVars>
      </dgm:prSet>
      <dgm:spPr/>
    </dgm:pt>
    <dgm:pt modelId="{27BEB4FF-15AF-4BD6-890F-7CA741DA573B}" type="pres">
      <dgm:prSet presAssocID="{5FF1BC48-74B0-4887-B58A-05A20EC7AD83}" presName="sibTrans" presStyleCnt="0"/>
      <dgm:spPr/>
    </dgm:pt>
    <dgm:pt modelId="{AD686013-53F1-497F-AE1E-48A02F54FF3D}" type="pres">
      <dgm:prSet presAssocID="{E33ED58E-3AAF-4296-8A89-F30C9196FCD8}" presName="compNode" presStyleCnt="0"/>
      <dgm:spPr/>
    </dgm:pt>
    <dgm:pt modelId="{55247FAB-FDA1-40E7-BA23-4D6023D5CFD0}" type="pres">
      <dgm:prSet presAssocID="{E33ED58E-3AAF-4296-8A89-F30C9196FCD8}" presName="bgRect" presStyleLbl="bgShp" presStyleIdx="3" presStyleCnt="4"/>
      <dgm:spPr/>
    </dgm:pt>
    <dgm:pt modelId="{CBC7364B-0E86-44D6-B8D5-D529B9FC15F2}" type="pres">
      <dgm:prSet presAssocID="{E33ED58E-3AAF-4296-8A89-F30C9196FCD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ice"/>
        </a:ext>
      </dgm:extLst>
    </dgm:pt>
    <dgm:pt modelId="{31E31F34-9ED4-4303-BD52-76519CD707EA}" type="pres">
      <dgm:prSet presAssocID="{E33ED58E-3AAF-4296-8A89-F30C9196FCD8}" presName="spaceRect" presStyleCnt="0"/>
      <dgm:spPr/>
    </dgm:pt>
    <dgm:pt modelId="{B34674D2-ED91-4E09-A8BA-31C1A7CFE348}" type="pres">
      <dgm:prSet presAssocID="{E33ED58E-3AAF-4296-8A89-F30C9196FCD8}" presName="parTx" presStyleLbl="revTx" presStyleIdx="3" presStyleCnt="4">
        <dgm:presLayoutVars>
          <dgm:chMax val="0"/>
          <dgm:chPref val="0"/>
        </dgm:presLayoutVars>
      </dgm:prSet>
      <dgm:spPr/>
    </dgm:pt>
  </dgm:ptLst>
  <dgm:cxnLst>
    <dgm:cxn modelId="{15BA3912-BE83-4729-8DE4-5779A2C460A7}" type="presOf" srcId="{25E519D0-12FA-4060-9AE4-624B727697F1}" destId="{71B1A804-39F0-4EA9-BD0F-B272D07C0F6D}" srcOrd="0" destOrd="0" presId="urn:microsoft.com/office/officeart/2018/2/layout/IconVerticalSolidList"/>
    <dgm:cxn modelId="{5ABB1F17-1FDD-44E1-AE92-1A2BE973E57E}" type="presOf" srcId="{FABCB941-D6E4-49D5-B6E1-6C388ABCBC8F}" destId="{CA8E7FE1-B2AF-40B8-BCBD-C428390CE488}" srcOrd="0" destOrd="0" presId="urn:microsoft.com/office/officeart/2018/2/layout/IconVerticalSolidList"/>
    <dgm:cxn modelId="{D81C0F36-9230-4B5B-9A9A-FDF25A9C8A93}" srcId="{FABCB941-D6E4-49D5-B6E1-6C388ABCBC8F}" destId="{2494A935-B31D-43A2-AF81-280D22F26E25}" srcOrd="0" destOrd="0" parTransId="{706A367F-208E-415D-A464-4D46414F7F8C}" sibTransId="{2332AB6D-720C-4290-8A6B-BA6A97F87B5F}"/>
    <dgm:cxn modelId="{967BCA66-503E-4E1E-8428-E46C2AA06085}" srcId="{FABCB941-D6E4-49D5-B6E1-6C388ABCBC8F}" destId="{25E519D0-12FA-4060-9AE4-624B727697F1}" srcOrd="2" destOrd="0" parTransId="{5545DA73-D0B4-43CF-ABDD-030E42B4486A}" sibTransId="{5FF1BC48-74B0-4887-B58A-05A20EC7AD83}"/>
    <dgm:cxn modelId="{F03E3353-3CDE-414E-B18E-D4087F0DA6CE}" type="presOf" srcId="{E33ED58E-3AAF-4296-8A89-F30C9196FCD8}" destId="{B34674D2-ED91-4E09-A8BA-31C1A7CFE348}" srcOrd="0" destOrd="0" presId="urn:microsoft.com/office/officeart/2018/2/layout/IconVerticalSolidList"/>
    <dgm:cxn modelId="{31E98E88-CA23-4CDA-A016-BAB5FFBF02DE}" srcId="{FABCB941-D6E4-49D5-B6E1-6C388ABCBC8F}" destId="{E33ED58E-3AAF-4296-8A89-F30C9196FCD8}" srcOrd="3" destOrd="0" parTransId="{AE166B7B-1F00-4391-8EE9-5B589B390BF9}" sibTransId="{8C11C0CC-F2B0-4114-A857-9C2C42E59C9B}"/>
    <dgm:cxn modelId="{B6D2229F-116F-4131-80B8-4B2FCBBCCB84}" type="presOf" srcId="{017CAC05-FA73-46C8-8985-06D57360A8B6}" destId="{CE48FC93-236F-40FB-B965-EE97DD1B84D3}" srcOrd="0" destOrd="0" presId="urn:microsoft.com/office/officeart/2018/2/layout/IconVerticalSolidList"/>
    <dgm:cxn modelId="{FE5AB8BE-7922-43F5-82AB-8EC0B9463326}" srcId="{FABCB941-D6E4-49D5-B6E1-6C388ABCBC8F}" destId="{017CAC05-FA73-46C8-8985-06D57360A8B6}" srcOrd="1" destOrd="0" parTransId="{7AABA33F-DEB9-4061-A73E-3F387329FC9B}" sibTransId="{CD1040DE-0924-4A50-ABF5-5CAC7B74E8C6}"/>
    <dgm:cxn modelId="{9BA6BADD-161A-4B21-8D22-28604495D394}" type="presOf" srcId="{2494A935-B31D-43A2-AF81-280D22F26E25}" destId="{B3E2A8A5-765F-4088-A73E-6DC1DFA84DB4}" srcOrd="0" destOrd="0" presId="urn:microsoft.com/office/officeart/2018/2/layout/IconVerticalSolidList"/>
    <dgm:cxn modelId="{3DCB16A6-10C0-427D-AD04-E7BFD6F79171}" type="presParOf" srcId="{CA8E7FE1-B2AF-40B8-BCBD-C428390CE488}" destId="{381A5D18-AF54-46FF-906E-0AF5BE5AD050}" srcOrd="0" destOrd="0" presId="urn:microsoft.com/office/officeart/2018/2/layout/IconVerticalSolidList"/>
    <dgm:cxn modelId="{2446E7BF-4F01-4A85-9F1F-88E4B430DBFA}" type="presParOf" srcId="{381A5D18-AF54-46FF-906E-0AF5BE5AD050}" destId="{0C5F3004-DE22-4210-9AC3-2AEB62AD26BE}" srcOrd="0" destOrd="0" presId="urn:microsoft.com/office/officeart/2018/2/layout/IconVerticalSolidList"/>
    <dgm:cxn modelId="{EED2A749-E455-4D2A-9A5F-F5A896ADCC86}" type="presParOf" srcId="{381A5D18-AF54-46FF-906E-0AF5BE5AD050}" destId="{96580F22-AF45-4ABE-9F8D-D5340990D6D3}" srcOrd="1" destOrd="0" presId="urn:microsoft.com/office/officeart/2018/2/layout/IconVerticalSolidList"/>
    <dgm:cxn modelId="{ED9B7F0F-3B2E-43AB-AF28-CEC6E410F2A4}" type="presParOf" srcId="{381A5D18-AF54-46FF-906E-0AF5BE5AD050}" destId="{4D51D23D-E264-45C6-9668-5EF6DFFA0CFA}" srcOrd="2" destOrd="0" presId="urn:microsoft.com/office/officeart/2018/2/layout/IconVerticalSolidList"/>
    <dgm:cxn modelId="{F5EAD5AF-8E58-4F34-9D97-CD77ACD8F583}" type="presParOf" srcId="{381A5D18-AF54-46FF-906E-0AF5BE5AD050}" destId="{B3E2A8A5-765F-4088-A73E-6DC1DFA84DB4}" srcOrd="3" destOrd="0" presId="urn:microsoft.com/office/officeart/2018/2/layout/IconVerticalSolidList"/>
    <dgm:cxn modelId="{891C1DA9-61A6-4234-8D3B-8CC56E06DB1F}" type="presParOf" srcId="{CA8E7FE1-B2AF-40B8-BCBD-C428390CE488}" destId="{BF418B18-0879-4C7B-8FD4-80CF40F3D234}" srcOrd="1" destOrd="0" presId="urn:microsoft.com/office/officeart/2018/2/layout/IconVerticalSolidList"/>
    <dgm:cxn modelId="{7E557A5D-63A8-4473-A28A-7D21CF9047A6}" type="presParOf" srcId="{CA8E7FE1-B2AF-40B8-BCBD-C428390CE488}" destId="{03A22048-34C8-4444-BA7A-EDEB04B41A7B}" srcOrd="2" destOrd="0" presId="urn:microsoft.com/office/officeart/2018/2/layout/IconVerticalSolidList"/>
    <dgm:cxn modelId="{AF725378-19FF-49A0-94A7-B205E383CE6F}" type="presParOf" srcId="{03A22048-34C8-4444-BA7A-EDEB04B41A7B}" destId="{F3C346EB-A361-448D-A680-CC2F54F42CC2}" srcOrd="0" destOrd="0" presId="urn:microsoft.com/office/officeart/2018/2/layout/IconVerticalSolidList"/>
    <dgm:cxn modelId="{BACEAEC8-2B40-47CF-95CC-DBA5F7696E0D}" type="presParOf" srcId="{03A22048-34C8-4444-BA7A-EDEB04B41A7B}" destId="{46BD979F-0D99-41FB-A016-6F2ACDA35208}" srcOrd="1" destOrd="0" presId="urn:microsoft.com/office/officeart/2018/2/layout/IconVerticalSolidList"/>
    <dgm:cxn modelId="{ED968947-E001-4139-B405-DCBA9FA1FEBA}" type="presParOf" srcId="{03A22048-34C8-4444-BA7A-EDEB04B41A7B}" destId="{777D8827-56C8-4F8C-BBD6-DC4EDAD98547}" srcOrd="2" destOrd="0" presId="urn:microsoft.com/office/officeart/2018/2/layout/IconVerticalSolidList"/>
    <dgm:cxn modelId="{160CF7AE-9091-44E4-A61A-EBE66186309C}" type="presParOf" srcId="{03A22048-34C8-4444-BA7A-EDEB04B41A7B}" destId="{CE48FC93-236F-40FB-B965-EE97DD1B84D3}" srcOrd="3" destOrd="0" presId="urn:microsoft.com/office/officeart/2018/2/layout/IconVerticalSolidList"/>
    <dgm:cxn modelId="{BFB6EE50-8CF9-4028-941D-FE2677B06F05}" type="presParOf" srcId="{CA8E7FE1-B2AF-40B8-BCBD-C428390CE488}" destId="{046FBCE3-5889-4FB5-84E1-E5752AEEA42B}" srcOrd="3" destOrd="0" presId="urn:microsoft.com/office/officeart/2018/2/layout/IconVerticalSolidList"/>
    <dgm:cxn modelId="{9055E467-2E41-4DD7-99B7-9D42016F8F69}" type="presParOf" srcId="{CA8E7FE1-B2AF-40B8-BCBD-C428390CE488}" destId="{BF8D5D84-FB74-451D-A38A-D331ABEEA0F7}" srcOrd="4" destOrd="0" presId="urn:microsoft.com/office/officeart/2018/2/layout/IconVerticalSolidList"/>
    <dgm:cxn modelId="{FE801929-9F27-4109-B3F4-34F4346D965A}" type="presParOf" srcId="{BF8D5D84-FB74-451D-A38A-D331ABEEA0F7}" destId="{2584DACB-A4F2-4658-8458-49B58F010BAD}" srcOrd="0" destOrd="0" presId="urn:microsoft.com/office/officeart/2018/2/layout/IconVerticalSolidList"/>
    <dgm:cxn modelId="{A9092E17-7C70-44C2-BF64-C59DDE0BEF16}" type="presParOf" srcId="{BF8D5D84-FB74-451D-A38A-D331ABEEA0F7}" destId="{93B87A70-BB3A-4ACA-9941-7C4CDD0A7218}" srcOrd="1" destOrd="0" presId="urn:microsoft.com/office/officeart/2018/2/layout/IconVerticalSolidList"/>
    <dgm:cxn modelId="{CE566765-AF0C-449E-97BE-417F495948DC}" type="presParOf" srcId="{BF8D5D84-FB74-451D-A38A-D331ABEEA0F7}" destId="{CBF3C2E7-63CF-4611-8D6A-67D6D4D07B85}" srcOrd="2" destOrd="0" presId="urn:microsoft.com/office/officeart/2018/2/layout/IconVerticalSolidList"/>
    <dgm:cxn modelId="{F0116722-4F69-4B6F-8C20-C9C3889E0797}" type="presParOf" srcId="{BF8D5D84-FB74-451D-A38A-D331ABEEA0F7}" destId="{71B1A804-39F0-4EA9-BD0F-B272D07C0F6D}" srcOrd="3" destOrd="0" presId="urn:microsoft.com/office/officeart/2018/2/layout/IconVerticalSolidList"/>
    <dgm:cxn modelId="{DA40B1BD-B90A-4163-87C1-014056246088}" type="presParOf" srcId="{CA8E7FE1-B2AF-40B8-BCBD-C428390CE488}" destId="{27BEB4FF-15AF-4BD6-890F-7CA741DA573B}" srcOrd="5" destOrd="0" presId="urn:microsoft.com/office/officeart/2018/2/layout/IconVerticalSolidList"/>
    <dgm:cxn modelId="{38AFFE61-5C70-475A-BF6E-6F74CA1BE1A7}" type="presParOf" srcId="{CA8E7FE1-B2AF-40B8-BCBD-C428390CE488}" destId="{AD686013-53F1-497F-AE1E-48A02F54FF3D}" srcOrd="6" destOrd="0" presId="urn:microsoft.com/office/officeart/2018/2/layout/IconVerticalSolidList"/>
    <dgm:cxn modelId="{1DB877FF-347C-46EC-8ED1-8FC03DFDAB46}" type="presParOf" srcId="{AD686013-53F1-497F-AE1E-48A02F54FF3D}" destId="{55247FAB-FDA1-40E7-BA23-4D6023D5CFD0}" srcOrd="0" destOrd="0" presId="urn:microsoft.com/office/officeart/2018/2/layout/IconVerticalSolidList"/>
    <dgm:cxn modelId="{11D71A02-0F93-4D2E-9BEB-398A9BF9FD98}" type="presParOf" srcId="{AD686013-53F1-497F-AE1E-48A02F54FF3D}" destId="{CBC7364B-0E86-44D6-B8D5-D529B9FC15F2}" srcOrd="1" destOrd="0" presId="urn:microsoft.com/office/officeart/2018/2/layout/IconVerticalSolidList"/>
    <dgm:cxn modelId="{F60999C0-11FD-4B22-9D8E-C2812276914C}" type="presParOf" srcId="{AD686013-53F1-497F-AE1E-48A02F54FF3D}" destId="{31E31F34-9ED4-4303-BD52-76519CD707EA}" srcOrd="2" destOrd="0" presId="urn:microsoft.com/office/officeart/2018/2/layout/IconVerticalSolidList"/>
    <dgm:cxn modelId="{A7EA11FC-A367-449A-B5D6-B79502C0B67B}" type="presParOf" srcId="{AD686013-53F1-497F-AE1E-48A02F54FF3D}" destId="{B34674D2-ED91-4E09-A8BA-31C1A7CFE348}"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D15BA9-5D62-4DE7-9906-07C2DB0FFA36}"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BDEF0D00-156B-4209-A1FF-7982A340B324}">
      <dgm:prSet/>
      <dgm:spPr/>
      <dgm:t>
        <a:bodyPr/>
        <a:lstStyle/>
        <a:p>
          <a:r>
            <a:rPr lang="en-GB" b="1" u="sng" dirty="0"/>
            <a:t>RATIONALE:</a:t>
          </a:r>
          <a:endParaRPr lang="en-US" dirty="0"/>
        </a:p>
      </dgm:t>
    </dgm:pt>
    <dgm:pt modelId="{50A28794-759E-49CC-8EAD-84161546331D}" type="parTrans" cxnId="{A13629D7-0C16-4F82-9794-13283CC64BB1}">
      <dgm:prSet/>
      <dgm:spPr/>
      <dgm:t>
        <a:bodyPr/>
        <a:lstStyle/>
        <a:p>
          <a:endParaRPr lang="en-US"/>
        </a:p>
      </dgm:t>
    </dgm:pt>
    <dgm:pt modelId="{C3540DA0-0B2B-4AC6-92D1-38B5383996D7}" type="sibTrans" cxnId="{A13629D7-0C16-4F82-9794-13283CC64BB1}">
      <dgm:prSet/>
      <dgm:spPr/>
      <dgm:t>
        <a:bodyPr/>
        <a:lstStyle/>
        <a:p>
          <a:endParaRPr lang="en-US"/>
        </a:p>
      </dgm:t>
    </dgm:pt>
    <dgm:pt modelId="{E9B059A6-16DF-4698-A9F3-44A4C5CB0521}">
      <dgm:prSet/>
      <dgm:spPr/>
      <dgm:t>
        <a:bodyPr/>
        <a:lstStyle/>
        <a:p>
          <a:r>
            <a:rPr lang="en-GB" dirty="0"/>
            <a:t>By stacking </a:t>
          </a:r>
          <a:r>
            <a:rPr lang="en-GB" b="1" dirty="0" err="1"/>
            <a:t>RandomForest</a:t>
          </a:r>
          <a:r>
            <a:rPr lang="en-GB" dirty="0"/>
            <a:t>, </a:t>
          </a:r>
          <a:r>
            <a:rPr lang="en-GB" b="1" dirty="0" err="1"/>
            <a:t>XGBoost</a:t>
          </a:r>
          <a:r>
            <a:rPr lang="en-GB" dirty="0"/>
            <a:t>, and </a:t>
          </a:r>
          <a:r>
            <a:rPr lang="en-GB" b="1" dirty="0"/>
            <a:t>SVM</a:t>
          </a:r>
          <a:r>
            <a:rPr lang="en-GB" dirty="0"/>
            <a:t>, you:</a:t>
          </a:r>
          <a:endParaRPr lang="en-US" dirty="0"/>
        </a:p>
      </dgm:t>
    </dgm:pt>
    <dgm:pt modelId="{CE5638AB-5837-4976-B65D-775707AD234C}" type="parTrans" cxnId="{DC8A30C1-1D37-4B1F-8FC1-F5E46DA19821}">
      <dgm:prSet/>
      <dgm:spPr/>
      <dgm:t>
        <a:bodyPr/>
        <a:lstStyle/>
        <a:p>
          <a:endParaRPr lang="en-US"/>
        </a:p>
      </dgm:t>
    </dgm:pt>
    <dgm:pt modelId="{13BC9790-8A76-4940-8103-93695D114A81}" type="sibTrans" cxnId="{DC8A30C1-1D37-4B1F-8FC1-F5E46DA19821}">
      <dgm:prSet/>
      <dgm:spPr/>
      <dgm:t>
        <a:bodyPr/>
        <a:lstStyle/>
        <a:p>
          <a:endParaRPr lang="en-US"/>
        </a:p>
      </dgm:t>
    </dgm:pt>
    <dgm:pt modelId="{43B6C398-6254-47EB-BB40-437EC2D847D3}">
      <dgm:prSet/>
      <dgm:spPr/>
      <dgm:t>
        <a:bodyPr/>
        <a:lstStyle/>
        <a:p>
          <a:r>
            <a:rPr lang="en-GB" dirty="0"/>
            <a:t>Combine </a:t>
          </a:r>
          <a:r>
            <a:rPr lang="en-GB" b="1" dirty="0"/>
            <a:t>generalization</a:t>
          </a:r>
          <a:r>
            <a:rPr lang="en-GB" dirty="0"/>
            <a:t>, </a:t>
          </a:r>
          <a:r>
            <a:rPr lang="en-GB" b="1" dirty="0"/>
            <a:t>residual correction</a:t>
          </a:r>
          <a:r>
            <a:rPr lang="en-GB" dirty="0"/>
            <a:t>, and </a:t>
          </a:r>
          <a:r>
            <a:rPr lang="en-GB" b="1" dirty="0"/>
            <a:t>margin separation</a:t>
          </a:r>
          <a:endParaRPr lang="en-US" dirty="0"/>
        </a:p>
      </dgm:t>
    </dgm:pt>
    <dgm:pt modelId="{AA36CD02-A02F-477B-A156-17E5D290651D}" type="parTrans" cxnId="{E2C091E6-1A87-4C2D-BE16-80EFF5EE25E1}">
      <dgm:prSet/>
      <dgm:spPr/>
      <dgm:t>
        <a:bodyPr/>
        <a:lstStyle/>
        <a:p>
          <a:endParaRPr lang="en-US"/>
        </a:p>
      </dgm:t>
    </dgm:pt>
    <dgm:pt modelId="{F10EDCAF-2FF2-45A4-8F62-1C7236A3E101}" type="sibTrans" cxnId="{E2C091E6-1A87-4C2D-BE16-80EFF5EE25E1}">
      <dgm:prSet/>
      <dgm:spPr/>
      <dgm:t>
        <a:bodyPr/>
        <a:lstStyle/>
        <a:p>
          <a:endParaRPr lang="en-US"/>
        </a:p>
      </dgm:t>
    </dgm:pt>
    <dgm:pt modelId="{3870B9F6-8222-4837-BC4D-99A7EAC2DB3F}">
      <dgm:prSet/>
      <dgm:spPr/>
      <dgm:t>
        <a:bodyPr/>
        <a:lstStyle/>
        <a:p>
          <a:r>
            <a:rPr lang="en-GB"/>
            <a:t>Improve </a:t>
          </a:r>
          <a:r>
            <a:rPr lang="en-GB" b="1"/>
            <a:t>minority class detection</a:t>
          </a:r>
          <a:r>
            <a:rPr lang="en-GB"/>
            <a:t> (especially for high-impact decisions)</a:t>
          </a:r>
          <a:endParaRPr lang="en-US"/>
        </a:p>
      </dgm:t>
    </dgm:pt>
    <dgm:pt modelId="{5A41428E-A701-482F-8F1E-31E9FE958446}" type="parTrans" cxnId="{0E6EE452-6E3E-4728-A573-33B22C8F16F0}">
      <dgm:prSet/>
      <dgm:spPr/>
      <dgm:t>
        <a:bodyPr/>
        <a:lstStyle/>
        <a:p>
          <a:endParaRPr lang="en-US"/>
        </a:p>
      </dgm:t>
    </dgm:pt>
    <dgm:pt modelId="{8E7996B4-8419-41BB-8650-37DA70BB75CD}" type="sibTrans" cxnId="{0E6EE452-6E3E-4728-A573-33B22C8F16F0}">
      <dgm:prSet/>
      <dgm:spPr/>
      <dgm:t>
        <a:bodyPr/>
        <a:lstStyle/>
        <a:p>
          <a:endParaRPr lang="en-US"/>
        </a:p>
      </dgm:t>
    </dgm:pt>
    <dgm:pt modelId="{675E320E-4467-4567-A973-9994A7BB0C69}">
      <dgm:prSet/>
      <dgm:spPr/>
      <dgm:t>
        <a:bodyPr/>
        <a:lstStyle/>
        <a:p>
          <a:r>
            <a:rPr lang="en-GB"/>
            <a:t>Increase </a:t>
          </a:r>
          <a:r>
            <a:rPr lang="en-GB" b="1"/>
            <a:t>robustness</a:t>
          </a:r>
          <a:r>
            <a:rPr lang="en-GB"/>
            <a:t> and </a:t>
          </a:r>
          <a:r>
            <a:rPr lang="en-GB" b="1"/>
            <a:t>reliability</a:t>
          </a:r>
          <a:r>
            <a:rPr lang="en-GB"/>
            <a:t> of predictions for real-world deployment</a:t>
          </a:r>
          <a:endParaRPr lang="en-US"/>
        </a:p>
      </dgm:t>
    </dgm:pt>
    <dgm:pt modelId="{AF9B5BF2-9111-4F1B-94DA-5D744761C731}" type="parTrans" cxnId="{33956D82-8770-4D27-9B77-FEA4066F435A}">
      <dgm:prSet/>
      <dgm:spPr/>
      <dgm:t>
        <a:bodyPr/>
        <a:lstStyle/>
        <a:p>
          <a:endParaRPr lang="en-US"/>
        </a:p>
      </dgm:t>
    </dgm:pt>
    <dgm:pt modelId="{DDD1EBCB-F51E-49A0-BC8C-CEEC152D70B4}" type="sibTrans" cxnId="{33956D82-8770-4D27-9B77-FEA4066F435A}">
      <dgm:prSet/>
      <dgm:spPr/>
      <dgm:t>
        <a:bodyPr/>
        <a:lstStyle/>
        <a:p>
          <a:endParaRPr lang="en-US"/>
        </a:p>
      </dgm:t>
    </dgm:pt>
    <dgm:pt modelId="{EDD3CBC4-F079-48F6-87A4-5AF05B7EB184}" type="pres">
      <dgm:prSet presAssocID="{28D15BA9-5D62-4DE7-9906-07C2DB0FFA36}" presName="outerComposite" presStyleCnt="0">
        <dgm:presLayoutVars>
          <dgm:chMax val="5"/>
          <dgm:dir/>
          <dgm:resizeHandles val="exact"/>
        </dgm:presLayoutVars>
      </dgm:prSet>
      <dgm:spPr/>
    </dgm:pt>
    <dgm:pt modelId="{DADF3C6F-E3CE-44EF-B736-BFDA4E2DB928}" type="pres">
      <dgm:prSet presAssocID="{28D15BA9-5D62-4DE7-9906-07C2DB0FFA36}" presName="dummyMaxCanvas" presStyleCnt="0">
        <dgm:presLayoutVars/>
      </dgm:prSet>
      <dgm:spPr/>
    </dgm:pt>
    <dgm:pt modelId="{FA9308C9-7872-4EA1-876C-1243412E3F8F}" type="pres">
      <dgm:prSet presAssocID="{28D15BA9-5D62-4DE7-9906-07C2DB0FFA36}" presName="FiveNodes_1" presStyleLbl="node1" presStyleIdx="0" presStyleCnt="5">
        <dgm:presLayoutVars>
          <dgm:bulletEnabled val="1"/>
        </dgm:presLayoutVars>
      </dgm:prSet>
      <dgm:spPr/>
    </dgm:pt>
    <dgm:pt modelId="{9A9BC7FA-7405-4591-B10E-7FDC85ED84CB}" type="pres">
      <dgm:prSet presAssocID="{28D15BA9-5D62-4DE7-9906-07C2DB0FFA36}" presName="FiveNodes_2" presStyleLbl="node1" presStyleIdx="1" presStyleCnt="5" custScaleX="97802" custScaleY="98436">
        <dgm:presLayoutVars>
          <dgm:bulletEnabled val="1"/>
        </dgm:presLayoutVars>
      </dgm:prSet>
      <dgm:spPr/>
    </dgm:pt>
    <dgm:pt modelId="{1B4C601C-3BBC-43AC-96B3-7A686302BB5B}" type="pres">
      <dgm:prSet presAssocID="{28D15BA9-5D62-4DE7-9906-07C2DB0FFA36}" presName="FiveNodes_3" presStyleLbl="node1" presStyleIdx="2" presStyleCnt="5">
        <dgm:presLayoutVars>
          <dgm:bulletEnabled val="1"/>
        </dgm:presLayoutVars>
      </dgm:prSet>
      <dgm:spPr/>
    </dgm:pt>
    <dgm:pt modelId="{D64552E9-750E-42C4-A1FE-B60128D2A713}" type="pres">
      <dgm:prSet presAssocID="{28D15BA9-5D62-4DE7-9906-07C2DB0FFA36}" presName="FiveNodes_4" presStyleLbl="node1" presStyleIdx="3" presStyleCnt="5">
        <dgm:presLayoutVars>
          <dgm:bulletEnabled val="1"/>
        </dgm:presLayoutVars>
      </dgm:prSet>
      <dgm:spPr/>
    </dgm:pt>
    <dgm:pt modelId="{FDDE9DE7-8996-4E57-87B9-921FFF032D1B}" type="pres">
      <dgm:prSet presAssocID="{28D15BA9-5D62-4DE7-9906-07C2DB0FFA36}" presName="FiveNodes_5" presStyleLbl="node1" presStyleIdx="4" presStyleCnt="5">
        <dgm:presLayoutVars>
          <dgm:bulletEnabled val="1"/>
        </dgm:presLayoutVars>
      </dgm:prSet>
      <dgm:spPr/>
    </dgm:pt>
    <dgm:pt modelId="{FD888243-54AE-4288-96A3-DF0119A1B67D}" type="pres">
      <dgm:prSet presAssocID="{28D15BA9-5D62-4DE7-9906-07C2DB0FFA36}" presName="FiveConn_1-2" presStyleLbl="fgAccFollowNode1" presStyleIdx="0" presStyleCnt="4" custAng="16200000" custLinFactX="-560721" custLinFactY="4337" custLinFactNeighborX="-600000" custLinFactNeighborY="100000">
        <dgm:presLayoutVars>
          <dgm:bulletEnabled val="1"/>
        </dgm:presLayoutVars>
      </dgm:prSet>
      <dgm:spPr/>
    </dgm:pt>
    <dgm:pt modelId="{8CCA3F0C-B011-473F-A73C-D1214270B370}" type="pres">
      <dgm:prSet presAssocID="{28D15BA9-5D62-4DE7-9906-07C2DB0FFA36}" presName="FiveConn_2-3" presStyleLbl="fgAccFollowNode1" presStyleIdx="1" presStyleCnt="4">
        <dgm:presLayoutVars>
          <dgm:bulletEnabled val="1"/>
        </dgm:presLayoutVars>
      </dgm:prSet>
      <dgm:spPr/>
    </dgm:pt>
    <dgm:pt modelId="{C5291AFB-986D-4501-A06E-BA9CFDFB18F3}" type="pres">
      <dgm:prSet presAssocID="{28D15BA9-5D62-4DE7-9906-07C2DB0FFA36}" presName="FiveConn_3-4" presStyleLbl="fgAccFollowNode1" presStyleIdx="2" presStyleCnt="4">
        <dgm:presLayoutVars>
          <dgm:bulletEnabled val="1"/>
        </dgm:presLayoutVars>
      </dgm:prSet>
      <dgm:spPr/>
    </dgm:pt>
    <dgm:pt modelId="{13E855F8-D50C-4110-AFE4-C11DAC3FCD9A}" type="pres">
      <dgm:prSet presAssocID="{28D15BA9-5D62-4DE7-9906-07C2DB0FFA36}" presName="FiveConn_4-5" presStyleLbl="fgAccFollowNode1" presStyleIdx="3" presStyleCnt="4">
        <dgm:presLayoutVars>
          <dgm:bulletEnabled val="1"/>
        </dgm:presLayoutVars>
      </dgm:prSet>
      <dgm:spPr/>
    </dgm:pt>
    <dgm:pt modelId="{8B9EACB8-D42D-46BF-9FB1-CDEAEDC9390C}" type="pres">
      <dgm:prSet presAssocID="{28D15BA9-5D62-4DE7-9906-07C2DB0FFA36}" presName="FiveNodes_1_text" presStyleLbl="node1" presStyleIdx="4" presStyleCnt="5">
        <dgm:presLayoutVars>
          <dgm:bulletEnabled val="1"/>
        </dgm:presLayoutVars>
      </dgm:prSet>
      <dgm:spPr/>
    </dgm:pt>
    <dgm:pt modelId="{0CC6F1BA-899A-4E13-AE51-E65E9516DEE4}" type="pres">
      <dgm:prSet presAssocID="{28D15BA9-5D62-4DE7-9906-07C2DB0FFA36}" presName="FiveNodes_2_text" presStyleLbl="node1" presStyleIdx="4" presStyleCnt="5">
        <dgm:presLayoutVars>
          <dgm:bulletEnabled val="1"/>
        </dgm:presLayoutVars>
      </dgm:prSet>
      <dgm:spPr/>
    </dgm:pt>
    <dgm:pt modelId="{A1858B4D-B42E-4168-8159-E8A4DF6D6174}" type="pres">
      <dgm:prSet presAssocID="{28D15BA9-5D62-4DE7-9906-07C2DB0FFA36}" presName="FiveNodes_3_text" presStyleLbl="node1" presStyleIdx="4" presStyleCnt="5">
        <dgm:presLayoutVars>
          <dgm:bulletEnabled val="1"/>
        </dgm:presLayoutVars>
      </dgm:prSet>
      <dgm:spPr/>
    </dgm:pt>
    <dgm:pt modelId="{813C5561-8041-4BA2-9B22-FFAFE7332BA1}" type="pres">
      <dgm:prSet presAssocID="{28D15BA9-5D62-4DE7-9906-07C2DB0FFA36}" presName="FiveNodes_4_text" presStyleLbl="node1" presStyleIdx="4" presStyleCnt="5">
        <dgm:presLayoutVars>
          <dgm:bulletEnabled val="1"/>
        </dgm:presLayoutVars>
      </dgm:prSet>
      <dgm:spPr/>
    </dgm:pt>
    <dgm:pt modelId="{2801F0D0-E301-4747-A988-5953FA01180B}" type="pres">
      <dgm:prSet presAssocID="{28D15BA9-5D62-4DE7-9906-07C2DB0FFA36}" presName="FiveNodes_5_text" presStyleLbl="node1" presStyleIdx="4" presStyleCnt="5">
        <dgm:presLayoutVars>
          <dgm:bulletEnabled val="1"/>
        </dgm:presLayoutVars>
      </dgm:prSet>
      <dgm:spPr/>
    </dgm:pt>
  </dgm:ptLst>
  <dgm:cxnLst>
    <dgm:cxn modelId="{1D948A1A-EBC9-453E-8FFA-CC5DC877E002}" type="presOf" srcId="{F10EDCAF-2FF2-45A4-8F62-1C7236A3E101}" destId="{C5291AFB-986D-4501-A06E-BA9CFDFB18F3}" srcOrd="0" destOrd="0" presId="urn:microsoft.com/office/officeart/2005/8/layout/vProcess5"/>
    <dgm:cxn modelId="{21A80C2E-2F16-4164-B281-BA61A35003A5}" type="presOf" srcId="{BDEF0D00-156B-4209-A1FF-7982A340B324}" destId="{FA9308C9-7872-4EA1-876C-1243412E3F8F}" srcOrd="0" destOrd="0" presId="urn:microsoft.com/office/officeart/2005/8/layout/vProcess5"/>
    <dgm:cxn modelId="{64426435-3845-4740-933F-17A4A9720F44}" type="presOf" srcId="{675E320E-4467-4567-A973-9994A7BB0C69}" destId="{2801F0D0-E301-4747-A988-5953FA01180B}" srcOrd="1" destOrd="0" presId="urn:microsoft.com/office/officeart/2005/8/layout/vProcess5"/>
    <dgm:cxn modelId="{57A5A341-673B-45E9-82F7-6C72016A4306}" type="presOf" srcId="{3870B9F6-8222-4837-BC4D-99A7EAC2DB3F}" destId="{813C5561-8041-4BA2-9B22-FFAFE7332BA1}" srcOrd="1" destOrd="0" presId="urn:microsoft.com/office/officeart/2005/8/layout/vProcess5"/>
    <dgm:cxn modelId="{6AD2C564-8515-40F5-9D92-E7DFBA1C2510}" type="presOf" srcId="{8E7996B4-8419-41BB-8650-37DA70BB75CD}" destId="{13E855F8-D50C-4110-AFE4-C11DAC3FCD9A}" srcOrd="0" destOrd="0" presId="urn:microsoft.com/office/officeart/2005/8/layout/vProcess5"/>
    <dgm:cxn modelId="{EBFE6E45-06DC-405E-8ACE-5501AB4317B9}" type="presOf" srcId="{C3540DA0-0B2B-4AC6-92D1-38B5383996D7}" destId="{FD888243-54AE-4288-96A3-DF0119A1B67D}" srcOrd="0" destOrd="0" presId="urn:microsoft.com/office/officeart/2005/8/layout/vProcess5"/>
    <dgm:cxn modelId="{177A0C70-120F-4C50-A6F5-D54494A21A85}" type="presOf" srcId="{E9B059A6-16DF-4698-A9F3-44A4C5CB0521}" destId="{0CC6F1BA-899A-4E13-AE51-E65E9516DEE4}" srcOrd="1" destOrd="0" presId="urn:microsoft.com/office/officeart/2005/8/layout/vProcess5"/>
    <dgm:cxn modelId="{0E6EE452-6E3E-4728-A573-33B22C8F16F0}" srcId="{28D15BA9-5D62-4DE7-9906-07C2DB0FFA36}" destId="{3870B9F6-8222-4837-BC4D-99A7EAC2DB3F}" srcOrd="3" destOrd="0" parTransId="{5A41428E-A701-482F-8F1E-31E9FE958446}" sibTransId="{8E7996B4-8419-41BB-8650-37DA70BB75CD}"/>
    <dgm:cxn modelId="{A11A7156-28B0-4C17-9E9E-6ED4DD752C67}" type="presOf" srcId="{43B6C398-6254-47EB-BB40-437EC2D847D3}" destId="{1B4C601C-3BBC-43AC-96B3-7A686302BB5B}" srcOrd="0" destOrd="0" presId="urn:microsoft.com/office/officeart/2005/8/layout/vProcess5"/>
    <dgm:cxn modelId="{33956D82-8770-4D27-9B77-FEA4066F435A}" srcId="{28D15BA9-5D62-4DE7-9906-07C2DB0FFA36}" destId="{675E320E-4467-4567-A973-9994A7BB0C69}" srcOrd="4" destOrd="0" parTransId="{AF9B5BF2-9111-4F1B-94DA-5D744761C731}" sibTransId="{DDD1EBCB-F51E-49A0-BC8C-CEEC152D70B4}"/>
    <dgm:cxn modelId="{F6B6C789-332F-4CF3-8C5F-1257F1E2D62D}" type="presOf" srcId="{43B6C398-6254-47EB-BB40-437EC2D847D3}" destId="{A1858B4D-B42E-4168-8159-E8A4DF6D6174}" srcOrd="1" destOrd="0" presId="urn:microsoft.com/office/officeart/2005/8/layout/vProcess5"/>
    <dgm:cxn modelId="{2EB328A3-7609-4988-B333-3D5855EA2BDC}" type="presOf" srcId="{13BC9790-8A76-4940-8103-93695D114A81}" destId="{8CCA3F0C-B011-473F-A73C-D1214270B370}" srcOrd="0" destOrd="0" presId="urn:microsoft.com/office/officeart/2005/8/layout/vProcess5"/>
    <dgm:cxn modelId="{3DEC8EAD-D490-4C98-B0CB-266A5CECA750}" type="presOf" srcId="{BDEF0D00-156B-4209-A1FF-7982A340B324}" destId="{8B9EACB8-D42D-46BF-9FB1-CDEAEDC9390C}" srcOrd="1" destOrd="0" presId="urn:microsoft.com/office/officeart/2005/8/layout/vProcess5"/>
    <dgm:cxn modelId="{DC8A30C1-1D37-4B1F-8FC1-F5E46DA19821}" srcId="{28D15BA9-5D62-4DE7-9906-07C2DB0FFA36}" destId="{E9B059A6-16DF-4698-A9F3-44A4C5CB0521}" srcOrd="1" destOrd="0" parTransId="{CE5638AB-5837-4976-B65D-775707AD234C}" sibTransId="{13BC9790-8A76-4940-8103-93695D114A81}"/>
    <dgm:cxn modelId="{1B61A0C4-DCB8-401F-8A5D-F5275560A42E}" type="presOf" srcId="{675E320E-4467-4567-A973-9994A7BB0C69}" destId="{FDDE9DE7-8996-4E57-87B9-921FFF032D1B}" srcOrd="0" destOrd="0" presId="urn:microsoft.com/office/officeart/2005/8/layout/vProcess5"/>
    <dgm:cxn modelId="{A13629D7-0C16-4F82-9794-13283CC64BB1}" srcId="{28D15BA9-5D62-4DE7-9906-07C2DB0FFA36}" destId="{BDEF0D00-156B-4209-A1FF-7982A340B324}" srcOrd="0" destOrd="0" parTransId="{50A28794-759E-49CC-8EAD-84161546331D}" sibTransId="{C3540DA0-0B2B-4AC6-92D1-38B5383996D7}"/>
    <dgm:cxn modelId="{9E4B7FDD-36DC-476B-B453-A0B4D00AB403}" type="presOf" srcId="{28D15BA9-5D62-4DE7-9906-07C2DB0FFA36}" destId="{EDD3CBC4-F079-48F6-87A4-5AF05B7EB184}" srcOrd="0" destOrd="0" presId="urn:microsoft.com/office/officeart/2005/8/layout/vProcess5"/>
    <dgm:cxn modelId="{5708AFE3-2549-468B-A7F5-0E21232D00A2}" type="presOf" srcId="{E9B059A6-16DF-4698-A9F3-44A4C5CB0521}" destId="{9A9BC7FA-7405-4591-B10E-7FDC85ED84CB}" srcOrd="0" destOrd="0" presId="urn:microsoft.com/office/officeart/2005/8/layout/vProcess5"/>
    <dgm:cxn modelId="{E2C091E6-1A87-4C2D-BE16-80EFF5EE25E1}" srcId="{28D15BA9-5D62-4DE7-9906-07C2DB0FFA36}" destId="{43B6C398-6254-47EB-BB40-437EC2D847D3}" srcOrd="2" destOrd="0" parTransId="{AA36CD02-A02F-477B-A156-17E5D290651D}" sibTransId="{F10EDCAF-2FF2-45A4-8F62-1C7236A3E101}"/>
    <dgm:cxn modelId="{D63029F3-02CC-4118-9D81-956D8564DBE8}" type="presOf" srcId="{3870B9F6-8222-4837-BC4D-99A7EAC2DB3F}" destId="{D64552E9-750E-42C4-A1FE-B60128D2A713}" srcOrd="0" destOrd="0" presId="urn:microsoft.com/office/officeart/2005/8/layout/vProcess5"/>
    <dgm:cxn modelId="{B6861B0A-C54C-46B0-A2A4-4834963EE051}" type="presParOf" srcId="{EDD3CBC4-F079-48F6-87A4-5AF05B7EB184}" destId="{DADF3C6F-E3CE-44EF-B736-BFDA4E2DB928}" srcOrd="0" destOrd="0" presId="urn:microsoft.com/office/officeart/2005/8/layout/vProcess5"/>
    <dgm:cxn modelId="{133DA74A-115D-4330-8979-B8953A65069B}" type="presParOf" srcId="{EDD3CBC4-F079-48F6-87A4-5AF05B7EB184}" destId="{FA9308C9-7872-4EA1-876C-1243412E3F8F}" srcOrd="1" destOrd="0" presId="urn:microsoft.com/office/officeart/2005/8/layout/vProcess5"/>
    <dgm:cxn modelId="{AA1FFF27-E105-4DAF-8270-2F49F6BA5D3D}" type="presParOf" srcId="{EDD3CBC4-F079-48F6-87A4-5AF05B7EB184}" destId="{9A9BC7FA-7405-4591-B10E-7FDC85ED84CB}" srcOrd="2" destOrd="0" presId="urn:microsoft.com/office/officeart/2005/8/layout/vProcess5"/>
    <dgm:cxn modelId="{E00E190B-4FA7-4586-B39C-7F7578CBBBBA}" type="presParOf" srcId="{EDD3CBC4-F079-48F6-87A4-5AF05B7EB184}" destId="{1B4C601C-3BBC-43AC-96B3-7A686302BB5B}" srcOrd="3" destOrd="0" presId="urn:microsoft.com/office/officeart/2005/8/layout/vProcess5"/>
    <dgm:cxn modelId="{271480C5-E6B5-4619-99AE-DA86AF4884E8}" type="presParOf" srcId="{EDD3CBC4-F079-48F6-87A4-5AF05B7EB184}" destId="{D64552E9-750E-42C4-A1FE-B60128D2A713}" srcOrd="4" destOrd="0" presId="urn:microsoft.com/office/officeart/2005/8/layout/vProcess5"/>
    <dgm:cxn modelId="{8EAB1792-92F4-4E79-BDC7-5DF9B53989B1}" type="presParOf" srcId="{EDD3CBC4-F079-48F6-87A4-5AF05B7EB184}" destId="{FDDE9DE7-8996-4E57-87B9-921FFF032D1B}" srcOrd="5" destOrd="0" presId="urn:microsoft.com/office/officeart/2005/8/layout/vProcess5"/>
    <dgm:cxn modelId="{0D3A271F-DCC0-4886-831A-66A386F8BF8C}" type="presParOf" srcId="{EDD3CBC4-F079-48F6-87A4-5AF05B7EB184}" destId="{FD888243-54AE-4288-96A3-DF0119A1B67D}" srcOrd="6" destOrd="0" presId="urn:microsoft.com/office/officeart/2005/8/layout/vProcess5"/>
    <dgm:cxn modelId="{FAC471DD-262F-44EE-A87B-A6A33E6F2B42}" type="presParOf" srcId="{EDD3CBC4-F079-48F6-87A4-5AF05B7EB184}" destId="{8CCA3F0C-B011-473F-A73C-D1214270B370}" srcOrd="7" destOrd="0" presId="urn:microsoft.com/office/officeart/2005/8/layout/vProcess5"/>
    <dgm:cxn modelId="{E5E1A272-54FF-4B15-B563-5E9AE4146B8C}" type="presParOf" srcId="{EDD3CBC4-F079-48F6-87A4-5AF05B7EB184}" destId="{C5291AFB-986D-4501-A06E-BA9CFDFB18F3}" srcOrd="8" destOrd="0" presId="urn:microsoft.com/office/officeart/2005/8/layout/vProcess5"/>
    <dgm:cxn modelId="{9F382D7F-8F9D-4615-B606-22704C9EA44A}" type="presParOf" srcId="{EDD3CBC4-F079-48F6-87A4-5AF05B7EB184}" destId="{13E855F8-D50C-4110-AFE4-C11DAC3FCD9A}" srcOrd="9" destOrd="0" presId="urn:microsoft.com/office/officeart/2005/8/layout/vProcess5"/>
    <dgm:cxn modelId="{08F18075-F230-427F-9D00-7CD027EE51EC}" type="presParOf" srcId="{EDD3CBC4-F079-48F6-87A4-5AF05B7EB184}" destId="{8B9EACB8-D42D-46BF-9FB1-CDEAEDC9390C}" srcOrd="10" destOrd="0" presId="urn:microsoft.com/office/officeart/2005/8/layout/vProcess5"/>
    <dgm:cxn modelId="{ABB5D199-9285-41A1-931F-07366CB5BB39}" type="presParOf" srcId="{EDD3CBC4-F079-48F6-87A4-5AF05B7EB184}" destId="{0CC6F1BA-899A-4E13-AE51-E65E9516DEE4}" srcOrd="11" destOrd="0" presId="urn:microsoft.com/office/officeart/2005/8/layout/vProcess5"/>
    <dgm:cxn modelId="{B7C84EE3-BDAF-4508-ABD3-B14BE7B7D947}" type="presParOf" srcId="{EDD3CBC4-F079-48F6-87A4-5AF05B7EB184}" destId="{A1858B4D-B42E-4168-8159-E8A4DF6D6174}" srcOrd="12" destOrd="0" presId="urn:microsoft.com/office/officeart/2005/8/layout/vProcess5"/>
    <dgm:cxn modelId="{1C4A2CC0-4C89-4F39-88A5-9490E6C07630}" type="presParOf" srcId="{EDD3CBC4-F079-48F6-87A4-5AF05B7EB184}" destId="{813C5561-8041-4BA2-9B22-FFAFE7332BA1}" srcOrd="13" destOrd="0" presId="urn:microsoft.com/office/officeart/2005/8/layout/vProcess5"/>
    <dgm:cxn modelId="{B3F1B26A-4FF2-484C-B3D5-B90ECCFF09BD}" type="presParOf" srcId="{EDD3CBC4-F079-48F6-87A4-5AF05B7EB184}" destId="{2801F0D0-E301-4747-A988-5953FA01180B}" srcOrd="14" destOrd="0" presId="urn:microsoft.com/office/officeart/2005/8/layout/v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5F3004-DE22-4210-9AC3-2AEB62AD26BE}">
      <dsp:nvSpPr>
        <dsp:cNvPr id="0" name=""/>
        <dsp:cNvSpPr/>
      </dsp:nvSpPr>
      <dsp:spPr>
        <a:xfrm>
          <a:off x="0" y="2292"/>
          <a:ext cx="6685280" cy="11618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580F22-AF45-4ABE-9F8D-D5340990D6D3}">
      <dsp:nvSpPr>
        <dsp:cNvPr id="0" name=""/>
        <dsp:cNvSpPr/>
      </dsp:nvSpPr>
      <dsp:spPr>
        <a:xfrm>
          <a:off x="351459" y="263708"/>
          <a:ext cx="639017" cy="6390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E2A8A5-765F-4088-A73E-6DC1DFA84DB4}">
      <dsp:nvSpPr>
        <dsp:cNvPr id="0" name=""/>
        <dsp:cNvSpPr/>
      </dsp:nvSpPr>
      <dsp:spPr>
        <a:xfrm>
          <a:off x="1341937" y="2292"/>
          <a:ext cx="5343342" cy="1161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963" tIns="122963" rIns="122963" bIns="122963" numCol="1" spcCol="1270" anchor="ctr" anchorCtr="0">
          <a:noAutofit/>
        </a:bodyPr>
        <a:lstStyle/>
        <a:p>
          <a:pPr marL="0" lvl="0" indent="0" algn="l" defTabSz="666750">
            <a:lnSpc>
              <a:spcPct val="100000"/>
            </a:lnSpc>
            <a:spcBef>
              <a:spcPct val="0"/>
            </a:spcBef>
            <a:spcAft>
              <a:spcPct val="35000"/>
            </a:spcAft>
            <a:buNone/>
          </a:pPr>
          <a:r>
            <a:rPr lang="en-GB" sz="1500" b="1" kern="1200" dirty="0">
              <a:solidFill>
                <a:schemeClr val="bg1"/>
              </a:solidFill>
            </a:rPr>
            <a:t>Stacking (Stacked Generalization)</a:t>
          </a:r>
          <a:r>
            <a:rPr lang="en-GB" sz="1500" kern="1200" dirty="0">
              <a:solidFill>
                <a:schemeClr val="bg1"/>
              </a:solidFill>
            </a:rPr>
            <a:t> is an ensemble technique that combines predictions from multiple base models to improve generalization</a:t>
          </a:r>
          <a:endParaRPr lang="en-US" sz="1500" kern="1200" dirty="0">
            <a:solidFill>
              <a:schemeClr val="bg1"/>
            </a:solidFill>
          </a:endParaRPr>
        </a:p>
      </dsp:txBody>
      <dsp:txXfrm>
        <a:off x="1341937" y="2292"/>
        <a:ext cx="5343342" cy="1161850"/>
      </dsp:txXfrm>
    </dsp:sp>
    <dsp:sp modelId="{F3C346EB-A361-448D-A680-CC2F54F42CC2}">
      <dsp:nvSpPr>
        <dsp:cNvPr id="0" name=""/>
        <dsp:cNvSpPr/>
      </dsp:nvSpPr>
      <dsp:spPr>
        <a:xfrm>
          <a:off x="0" y="1454605"/>
          <a:ext cx="6685280" cy="11618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BD979F-0D99-41FB-A016-6F2ACDA35208}">
      <dsp:nvSpPr>
        <dsp:cNvPr id="0" name=""/>
        <dsp:cNvSpPr/>
      </dsp:nvSpPr>
      <dsp:spPr>
        <a:xfrm>
          <a:off x="351459" y="1716021"/>
          <a:ext cx="639017" cy="6390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48FC93-236F-40FB-B965-EE97DD1B84D3}">
      <dsp:nvSpPr>
        <dsp:cNvPr id="0" name=""/>
        <dsp:cNvSpPr/>
      </dsp:nvSpPr>
      <dsp:spPr>
        <a:xfrm>
          <a:off x="1341937" y="1454605"/>
          <a:ext cx="5343342" cy="1161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963" tIns="122963" rIns="122963" bIns="122963" numCol="1" spcCol="1270" anchor="ctr" anchorCtr="0">
          <a:noAutofit/>
        </a:bodyPr>
        <a:lstStyle/>
        <a:p>
          <a:pPr marL="0" lvl="0" indent="0" algn="l" defTabSz="666750">
            <a:lnSpc>
              <a:spcPct val="100000"/>
            </a:lnSpc>
            <a:spcBef>
              <a:spcPct val="0"/>
            </a:spcBef>
            <a:spcAft>
              <a:spcPct val="35000"/>
            </a:spcAft>
            <a:buNone/>
          </a:pPr>
          <a:r>
            <a:rPr lang="en-GB" sz="1500" b="1" kern="1200" dirty="0">
              <a:solidFill>
                <a:schemeClr val="bg1"/>
              </a:solidFill>
            </a:rPr>
            <a:t>Goal:</a:t>
          </a:r>
          <a:r>
            <a:rPr lang="en-GB" sz="1500" kern="1200" dirty="0">
              <a:solidFill>
                <a:schemeClr val="bg1"/>
              </a:solidFill>
            </a:rPr>
            <a:t> Capture different types of learning patterns and reduce individual model weaknesses</a:t>
          </a:r>
          <a:r>
            <a:rPr lang="en-GB" sz="1500" kern="1200" dirty="0"/>
            <a:t>.</a:t>
          </a:r>
          <a:endParaRPr lang="en-US" sz="1500" kern="1200" dirty="0"/>
        </a:p>
      </dsp:txBody>
      <dsp:txXfrm>
        <a:off x="1341937" y="1454605"/>
        <a:ext cx="5343342" cy="1161850"/>
      </dsp:txXfrm>
    </dsp:sp>
    <dsp:sp modelId="{2584DACB-A4F2-4658-8458-49B58F010BAD}">
      <dsp:nvSpPr>
        <dsp:cNvPr id="0" name=""/>
        <dsp:cNvSpPr/>
      </dsp:nvSpPr>
      <dsp:spPr>
        <a:xfrm>
          <a:off x="0" y="2906918"/>
          <a:ext cx="6685280" cy="11618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B87A70-BB3A-4ACA-9941-7C4CDD0A7218}">
      <dsp:nvSpPr>
        <dsp:cNvPr id="0" name=""/>
        <dsp:cNvSpPr/>
      </dsp:nvSpPr>
      <dsp:spPr>
        <a:xfrm>
          <a:off x="351459" y="3168335"/>
          <a:ext cx="639017" cy="63901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B1A804-39F0-4EA9-BD0F-B272D07C0F6D}">
      <dsp:nvSpPr>
        <dsp:cNvPr id="0" name=""/>
        <dsp:cNvSpPr/>
      </dsp:nvSpPr>
      <dsp:spPr>
        <a:xfrm>
          <a:off x="1341937" y="2906918"/>
          <a:ext cx="5343342" cy="1161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963" tIns="122963" rIns="122963" bIns="122963" numCol="1" spcCol="1270" anchor="ctr" anchorCtr="0">
          <a:noAutofit/>
        </a:bodyPr>
        <a:lstStyle/>
        <a:p>
          <a:pPr marL="0" lvl="0" indent="0" algn="l" defTabSz="666750">
            <a:lnSpc>
              <a:spcPct val="100000"/>
            </a:lnSpc>
            <a:spcBef>
              <a:spcPct val="0"/>
            </a:spcBef>
            <a:spcAft>
              <a:spcPct val="35000"/>
            </a:spcAft>
            <a:buNone/>
          </a:pPr>
          <a:r>
            <a:rPr lang="en-GB" sz="1500" b="1" kern="1200" dirty="0">
              <a:solidFill>
                <a:schemeClr val="bg1"/>
              </a:solidFill>
            </a:rPr>
            <a:t>Approach:</a:t>
          </a:r>
          <a:r>
            <a:rPr lang="en-GB" sz="1500" kern="1200" dirty="0">
              <a:solidFill>
                <a:schemeClr val="bg1"/>
              </a:solidFill>
            </a:rPr>
            <a:t> A </a:t>
          </a:r>
          <a:r>
            <a:rPr lang="en-GB" sz="1500" b="1" kern="1200" dirty="0">
              <a:solidFill>
                <a:schemeClr val="bg1"/>
              </a:solidFill>
            </a:rPr>
            <a:t>meta-model</a:t>
          </a:r>
          <a:r>
            <a:rPr lang="en-GB" sz="1500" kern="1200" dirty="0">
              <a:solidFill>
                <a:schemeClr val="bg1"/>
              </a:solidFill>
            </a:rPr>
            <a:t> learns how to optimally combine base model outputs, often leading to </a:t>
          </a:r>
          <a:r>
            <a:rPr lang="en-GB" sz="1500" b="1" kern="1200" dirty="0">
              <a:solidFill>
                <a:schemeClr val="bg1"/>
              </a:solidFill>
            </a:rPr>
            <a:t>higher predictive power</a:t>
          </a:r>
          <a:r>
            <a:rPr lang="en-GB" sz="1500" kern="1200" dirty="0">
              <a:solidFill>
                <a:schemeClr val="bg1"/>
              </a:solidFill>
            </a:rPr>
            <a:t> than any single model alone.</a:t>
          </a:r>
          <a:endParaRPr lang="en-US" sz="1500" kern="1200" dirty="0">
            <a:solidFill>
              <a:schemeClr val="bg1"/>
            </a:solidFill>
          </a:endParaRPr>
        </a:p>
      </dsp:txBody>
      <dsp:txXfrm>
        <a:off x="1341937" y="2906918"/>
        <a:ext cx="5343342" cy="1161850"/>
      </dsp:txXfrm>
    </dsp:sp>
    <dsp:sp modelId="{55247FAB-FDA1-40E7-BA23-4D6023D5CFD0}">
      <dsp:nvSpPr>
        <dsp:cNvPr id="0" name=""/>
        <dsp:cNvSpPr/>
      </dsp:nvSpPr>
      <dsp:spPr>
        <a:xfrm>
          <a:off x="0" y="4359232"/>
          <a:ext cx="6685280" cy="11618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C7364B-0E86-44D6-B8D5-D529B9FC15F2}">
      <dsp:nvSpPr>
        <dsp:cNvPr id="0" name=""/>
        <dsp:cNvSpPr/>
      </dsp:nvSpPr>
      <dsp:spPr>
        <a:xfrm>
          <a:off x="351459" y="4620648"/>
          <a:ext cx="639017" cy="63901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4674D2-ED91-4E09-A8BA-31C1A7CFE348}">
      <dsp:nvSpPr>
        <dsp:cNvPr id="0" name=""/>
        <dsp:cNvSpPr/>
      </dsp:nvSpPr>
      <dsp:spPr>
        <a:xfrm>
          <a:off x="1341937" y="4359232"/>
          <a:ext cx="5343342" cy="1161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963" tIns="122963" rIns="122963" bIns="122963" numCol="1" spcCol="1270" anchor="ctr" anchorCtr="0">
          <a:noAutofit/>
        </a:bodyPr>
        <a:lstStyle/>
        <a:p>
          <a:pPr marL="0" lvl="0" indent="0" algn="l" defTabSz="666750">
            <a:lnSpc>
              <a:spcPct val="100000"/>
            </a:lnSpc>
            <a:spcBef>
              <a:spcPct val="0"/>
            </a:spcBef>
            <a:spcAft>
              <a:spcPct val="35000"/>
            </a:spcAft>
            <a:buNone/>
          </a:pPr>
          <a:r>
            <a:rPr lang="en-GB" sz="1500" kern="1200" dirty="0">
              <a:solidFill>
                <a:schemeClr val="bg1"/>
              </a:solidFill>
            </a:rPr>
            <a:t>Weighted F1-Score evaluates whether the meta-model effectively combines these predictions, especially for the minority High-risk class, which is critical for decision-making.</a:t>
          </a:r>
          <a:endParaRPr lang="en-US" sz="1500" kern="1200" dirty="0">
            <a:solidFill>
              <a:schemeClr val="bg1"/>
            </a:solidFill>
          </a:endParaRPr>
        </a:p>
      </dsp:txBody>
      <dsp:txXfrm>
        <a:off x="1341937" y="4359232"/>
        <a:ext cx="5343342" cy="11618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9308C9-7872-4EA1-876C-1243412E3F8F}">
      <dsp:nvSpPr>
        <dsp:cNvPr id="0" name=""/>
        <dsp:cNvSpPr/>
      </dsp:nvSpPr>
      <dsp:spPr>
        <a:xfrm>
          <a:off x="0" y="0"/>
          <a:ext cx="8261411" cy="1008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b="1" u="sng" kern="1200" dirty="0"/>
            <a:t>RATIONALE:</a:t>
          </a:r>
          <a:endParaRPr lang="en-US" sz="2600" kern="1200" dirty="0"/>
        </a:p>
      </dsp:txBody>
      <dsp:txXfrm>
        <a:off x="29527" y="29527"/>
        <a:ext cx="7055596" cy="949088"/>
      </dsp:txXfrm>
    </dsp:sp>
    <dsp:sp modelId="{9A9BC7FA-7405-4591-B10E-7FDC85ED84CB}">
      <dsp:nvSpPr>
        <dsp:cNvPr id="0" name=""/>
        <dsp:cNvSpPr/>
      </dsp:nvSpPr>
      <dsp:spPr>
        <a:xfrm>
          <a:off x="707716" y="1156045"/>
          <a:ext cx="8079825" cy="99237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dirty="0"/>
            <a:t>By stacking </a:t>
          </a:r>
          <a:r>
            <a:rPr lang="en-GB" sz="2600" b="1" kern="1200" dirty="0" err="1"/>
            <a:t>RandomForest</a:t>
          </a:r>
          <a:r>
            <a:rPr lang="en-GB" sz="2600" kern="1200" dirty="0"/>
            <a:t>, </a:t>
          </a:r>
          <a:r>
            <a:rPr lang="en-GB" sz="2600" b="1" kern="1200" dirty="0" err="1"/>
            <a:t>XGBoost</a:t>
          </a:r>
          <a:r>
            <a:rPr lang="en-GB" sz="2600" kern="1200" dirty="0"/>
            <a:t>, and </a:t>
          </a:r>
          <a:r>
            <a:rPr lang="en-GB" sz="2600" b="1" kern="1200" dirty="0"/>
            <a:t>SVM</a:t>
          </a:r>
          <a:r>
            <a:rPr lang="en-GB" sz="2600" kern="1200" dirty="0"/>
            <a:t>, you:</a:t>
          </a:r>
          <a:endParaRPr lang="en-US" sz="2600" kern="1200" dirty="0"/>
        </a:p>
      </dsp:txBody>
      <dsp:txXfrm>
        <a:off x="736782" y="1185111"/>
        <a:ext cx="6777441" cy="934242"/>
      </dsp:txXfrm>
    </dsp:sp>
    <dsp:sp modelId="{1B4C601C-3BBC-43AC-96B3-7A686302BB5B}">
      <dsp:nvSpPr>
        <dsp:cNvPr id="0" name=""/>
        <dsp:cNvSpPr/>
      </dsp:nvSpPr>
      <dsp:spPr>
        <a:xfrm>
          <a:off x="1233847" y="2296323"/>
          <a:ext cx="8261411" cy="1008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dirty="0"/>
            <a:t>Combine </a:t>
          </a:r>
          <a:r>
            <a:rPr lang="en-GB" sz="2600" b="1" kern="1200" dirty="0"/>
            <a:t>generalization</a:t>
          </a:r>
          <a:r>
            <a:rPr lang="en-GB" sz="2600" kern="1200" dirty="0"/>
            <a:t>, </a:t>
          </a:r>
          <a:r>
            <a:rPr lang="en-GB" sz="2600" b="1" kern="1200" dirty="0"/>
            <a:t>residual correction</a:t>
          </a:r>
          <a:r>
            <a:rPr lang="en-GB" sz="2600" kern="1200" dirty="0"/>
            <a:t>, and </a:t>
          </a:r>
          <a:r>
            <a:rPr lang="en-GB" sz="2600" b="1" kern="1200" dirty="0"/>
            <a:t>margin separation</a:t>
          </a:r>
          <a:endParaRPr lang="en-US" sz="2600" kern="1200" dirty="0"/>
        </a:p>
      </dsp:txBody>
      <dsp:txXfrm>
        <a:off x="1263374" y="2325850"/>
        <a:ext cx="6930141" cy="949088"/>
      </dsp:txXfrm>
    </dsp:sp>
    <dsp:sp modelId="{D64552E9-750E-42C4-A1FE-B60128D2A713}">
      <dsp:nvSpPr>
        <dsp:cNvPr id="0" name=""/>
        <dsp:cNvSpPr/>
      </dsp:nvSpPr>
      <dsp:spPr>
        <a:xfrm>
          <a:off x="1850770" y="3444485"/>
          <a:ext cx="8261411" cy="1008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a:t>Improve </a:t>
          </a:r>
          <a:r>
            <a:rPr lang="en-GB" sz="2600" b="1" kern="1200"/>
            <a:t>minority class detection</a:t>
          </a:r>
          <a:r>
            <a:rPr lang="en-GB" sz="2600" kern="1200"/>
            <a:t> (especially for high-impact decisions)</a:t>
          </a:r>
          <a:endParaRPr lang="en-US" sz="2600" kern="1200"/>
        </a:p>
      </dsp:txBody>
      <dsp:txXfrm>
        <a:off x="1880297" y="3474012"/>
        <a:ext cx="6930141" cy="949088"/>
      </dsp:txXfrm>
    </dsp:sp>
    <dsp:sp modelId="{FDDE9DE7-8996-4E57-87B9-921FFF032D1B}">
      <dsp:nvSpPr>
        <dsp:cNvPr id="0" name=""/>
        <dsp:cNvSpPr/>
      </dsp:nvSpPr>
      <dsp:spPr>
        <a:xfrm>
          <a:off x="2467694" y="4592646"/>
          <a:ext cx="8261411" cy="100814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kern="1200"/>
            <a:t>Increase </a:t>
          </a:r>
          <a:r>
            <a:rPr lang="en-GB" sz="2600" b="1" kern="1200"/>
            <a:t>robustness</a:t>
          </a:r>
          <a:r>
            <a:rPr lang="en-GB" sz="2600" kern="1200"/>
            <a:t> and </a:t>
          </a:r>
          <a:r>
            <a:rPr lang="en-GB" sz="2600" b="1" kern="1200"/>
            <a:t>reliability</a:t>
          </a:r>
          <a:r>
            <a:rPr lang="en-GB" sz="2600" kern="1200"/>
            <a:t> of predictions for real-world deployment</a:t>
          </a:r>
          <a:endParaRPr lang="en-US" sz="2600" kern="1200"/>
        </a:p>
      </dsp:txBody>
      <dsp:txXfrm>
        <a:off x="2497221" y="4622173"/>
        <a:ext cx="6930141" cy="949088"/>
      </dsp:txXfrm>
    </dsp:sp>
    <dsp:sp modelId="{FD888243-54AE-4288-96A3-DF0119A1B67D}">
      <dsp:nvSpPr>
        <dsp:cNvPr id="0" name=""/>
        <dsp:cNvSpPr/>
      </dsp:nvSpPr>
      <dsp:spPr>
        <a:xfrm rot="16200000">
          <a:off x="3" y="1420216"/>
          <a:ext cx="655292" cy="65529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66352" y="1501309"/>
        <a:ext cx="360410" cy="493107"/>
      </dsp:txXfrm>
    </dsp:sp>
    <dsp:sp modelId="{8CCA3F0C-B011-473F-A73C-D1214270B370}">
      <dsp:nvSpPr>
        <dsp:cNvPr id="0" name=""/>
        <dsp:cNvSpPr/>
      </dsp:nvSpPr>
      <dsp:spPr>
        <a:xfrm>
          <a:off x="8223042" y="1884665"/>
          <a:ext cx="655292" cy="65529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8370483" y="1884665"/>
        <a:ext cx="360410" cy="493107"/>
      </dsp:txXfrm>
    </dsp:sp>
    <dsp:sp modelId="{C5291AFB-986D-4501-A06E-BA9CFDFB18F3}">
      <dsp:nvSpPr>
        <dsp:cNvPr id="0" name=""/>
        <dsp:cNvSpPr/>
      </dsp:nvSpPr>
      <dsp:spPr>
        <a:xfrm>
          <a:off x="8839966" y="3016024"/>
          <a:ext cx="655292" cy="65529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8987407" y="3016024"/>
        <a:ext cx="360410" cy="493107"/>
      </dsp:txXfrm>
    </dsp:sp>
    <dsp:sp modelId="{13E855F8-D50C-4110-AFE4-C11DAC3FCD9A}">
      <dsp:nvSpPr>
        <dsp:cNvPr id="0" name=""/>
        <dsp:cNvSpPr/>
      </dsp:nvSpPr>
      <dsp:spPr>
        <a:xfrm>
          <a:off x="9456890" y="4175388"/>
          <a:ext cx="655292" cy="65529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9604331" y="4175388"/>
        <a:ext cx="360410" cy="49310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4C9CAC-491A-49D6-AADD-A18928A171CD}" type="datetimeFigureOut">
              <a:rPr lang="en-KE" smtClean="0"/>
              <a:t>20/06/2025</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311E6F-1E70-4A7B-87D7-53953D0DE147}" type="slidenum">
              <a:rPr lang="en-KE" smtClean="0"/>
              <a:t>‹#›</a:t>
            </a:fld>
            <a:endParaRPr lang="en-KE"/>
          </a:p>
        </p:txBody>
      </p:sp>
    </p:spTree>
    <p:extLst>
      <p:ext uri="{BB962C8B-B14F-4D97-AF65-F5344CB8AC3E}">
        <p14:creationId xmlns:p14="http://schemas.microsoft.com/office/powerpoint/2010/main" val="1820114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E" dirty="0"/>
          </a:p>
        </p:txBody>
      </p:sp>
      <p:sp>
        <p:nvSpPr>
          <p:cNvPr id="4" name="Slide Number Placeholder 3"/>
          <p:cNvSpPr>
            <a:spLocks noGrp="1"/>
          </p:cNvSpPr>
          <p:nvPr>
            <p:ph type="sldNum" sz="quarter" idx="5"/>
          </p:nvPr>
        </p:nvSpPr>
        <p:spPr/>
        <p:txBody>
          <a:bodyPr/>
          <a:lstStyle/>
          <a:p>
            <a:fld id="{C2311E6F-1E70-4A7B-87D7-53953D0DE147}" type="slidenum">
              <a:rPr lang="en-KE" smtClean="0"/>
              <a:t>4</a:t>
            </a:fld>
            <a:endParaRPr lang="en-KE"/>
          </a:p>
        </p:txBody>
      </p:sp>
    </p:spTree>
    <p:extLst>
      <p:ext uri="{BB962C8B-B14F-4D97-AF65-F5344CB8AC3E}">
        <p14:creationId xmlns:p14="http://schemas.microsoft.com/office/powerpoint/2010/main" val="1000570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E" dirty="0"/>
          </a:p>
        </p:txBody>
      </p:sp>
      <p:sp>
        <p:nvSpPr>
          <p:cNvPr id="4" name="Slide Number Placeholder 3"/>
          <p:cNvSpPr>
            <a:spLocks noGrp="1"/>
          </p:cNvSpPr>
          <p:nvPr>
            <p:ph type="sldNum" sz="quarter" idx="5"/>
          </p:nvPr>
        </p:nvSpPr>
        <p:spPr/>
        <p:txBody>
          <a:bodyPr/>
          <a:lstStyle/>
          <a:p>
            <a:fld id="{C2311E6F-1E70-4A7B-87D7-53953D0DE147}" type="slidenum">
              <a:rPr lang="en-KE" smtClean="0"/>
              <a:t>17</a:t>
            </a:fld>
            <a:endParaRPr lang="en-KE"/>
          </a:p>
        </p:txBody>
      </p:sp>
    </p:spTree>
    <p:extLst>
      <p:ext uri="{BB962C8B-B14F-4D97-AF65-F5344CB8AC3E}">
        <p14:creationId xmlns:p14="http://schemas.microsoft.com/office/powerpoint/2010/main" val="2390521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E" dirty="0"/>
          </a:p>
        </p:txBody>
      </p:sp>
      <p:sp>
        <p:nvSpPr>
          <p:cNvPr id="4" name="Slide Number Placeholder 3"/>
          <p:cNvSpPr>
            <a:spLocks noGrp="1"/>
          </p:cNvSpPr>
          <p:nvPr>
            <p:ph type="sldNum" sz="quarter" idx="5"/>
          </p:nvPr>
        </p:nvSpPr>
        <p:spPr/>
        <p:txBody>
          <a:bodyPr/>
          <a:lstStyle/>
          <a:p>
            <a:fld id="{C2311E6F-1E70-4A7B-87D7-53953D0DE147}" type="slidenum">
              <a:rPr lang="en-KE" smtClean="0"/>
              <a:t>18</a:t>
            </a:fld>
            <a:endParaRPr lang="en-KE"/>
          </a:p>
        </p:txBody>
      </p:sp>
    </p:spTree>
    <p:extLst>
      <p:ext uri="{BB962C8B-B14F-4D97-AF65-F5344CB8AC3E}">
        <p14:creationId xmlns:p14="http://schemas.microsoft.com/office/powerpoint/2010/main" val="581810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E" dirty="0"/>
          </a:p>
        </p:txBody>
      </p:sp>
      <p:sp>
        <p:nvSpPr>
          <p:cNvPr id="4" name="Slide Number Placeholder 3"/>
          <p:cNvSpPr>
            <a:spLocks noGrp="1"/>
          </p:cNvSpPr>
          <p:nvPr>
            <p:ph type="sldNum" sz="quarter" idx="5"/>
          </p:nvPr>
        </p:nvSpPr>
        <p:spPr/>
        <p:txBody>
          <a:bodyPr/>
          <a:lstStyle/>
          <a:p>
            <a:fld id="{C2311E6F-1E70-4A7B-87D7-53953D0DE147}" type="slidenum">
              <a:rPr lang="en-KE" smtClean="0"/>
              <a:t>19</a:t>
            </a:fld>
            <a:endParaRPr lang="en-KE"/>
          </a:p>
        </p:txBody>
      </p:sp>
    </p:spTree>
    <p:extLst>
      <p:ext uri="{BB962C8B-B14F-4D97-AF65-F5344CB8AC3E}">
        <p14:creationId xmlns:p14="http://schemas.microsoft.com/office/powerpoint/2010/main" val="4208184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6/20/2025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08194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6/20/2025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94356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6/20/2025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5375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6/20/2025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57644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6/20/2025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69392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6/20/2025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94471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6/20/2025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09943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6/20/2025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33305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6/20/2025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68802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6/20/2025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17396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6/20/2025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2264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6/20/2025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103718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0" r:id="rId6"/>
    <p:sldLayoutId id="2147483686" r:id="rId7"/>
    <p:sldLayoutId id="2147483687" r:id="rId8"/>
    <p:sldLayoutId id="2147483688" r:id="rId9"/>
    <p:sldLayoutId id="2147483689" r:id="rId10"/>
    <p:sldLayoutId id="214748369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7.jpe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22.jpeg"/><Relationship Id="rId4" Type="http://schemas.openxmlformats.org/officeDocument/2006/relationships/image" Target="../media/image8.jpeg"/><Relationship Id="rId9" Type="http://schemas.microsoft.com/office/2007/relationships/diagramDrawing" Target="../diagrams/drawing1.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7.jpeg"/><Relationship Id="rId7" Type="http://schemas.openxmlformats.org/officeDocument/2006/relationships/diagramQuickStyle" Target="../diagrams/quickStyle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8.jpeg"/><Relationship Id="rId9" Type="http://schemas.microsoft.com/office/2007/relationships/diagramDrawing" Target="../diagrams/drawing2.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59A9681A-2486-4655-A876-E26402CA2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Offshore production platform">
            <a:extLst>
              <a:ext uri="{FF2B5EF4-FFF2-40B4-BE49-F238E27FC236}">
                <a16:creationId xmlns:a16="http://schemas.microsoft.com/office/drawing/2014/main" id="{6A316BC5-B7D5-1283-CE1F-67C8052EA347}"/>
              </a:ext>
            </a:extLst>
          </p:cNvPr>
          <p:cNvPicPr>
            <a:picLocks noChangeAspect="1"/>
          </p:cNvPicPr>
          <p:nvPr/>
        </p:nvPicPr>
        <p:blipFill>
          <a:blip r:embed="rId2">
            <a:alphaModFix/>
            <a:extLst>
              <a:ext uri="{28A0092B-C50C-407E-A947-70E740481C1C}">
                <a14:useLocalDpi xmlns:a14="http://schemas.microsoft.com/office/drawing/2010/main" val="0"/>
              </a:ext>
            </a:extLst>
          </a:blip>
          <a:srcRect t="20496"/>
          <a:stretch/>
        </p:blipFill>
        <p:spPr>
          <a:xfrm>
            <a:off x="2" y="152"/>
            <a:ext cx="12191998" cy="6857848"/>
          </a:xfrm>
          <a:prstGeom prst="rect">
            <a:avLst/>
          </a:prstGeom>
        </p:spPr>
      </p:pic>
      <p:sp>
        <p:nvSpPr>
          <p:cNvPr id="32" name="Rectangle 31">
            <a:extLst>
              <a:ext uri="{FF2B5EF4-FFF2-40B4-BE49-F238E27FC236}">
                <a16:creationId xmlns:a16="http://schemas.microsoft.com/office/drawing/2014/main" id="{C9BB6818-31C2-4340-98F8-64FF7F46A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2C2A23-0E44-F8BE-533B-0B818844F574}"/>
              </a:ext>
            </a:extLst>
          </p:cNvPr>
          <p:cNvSpPr>
            <a:spLocks noGrp="1"/>
          </p:cNvSpPr>
          <p:nvPr>
            <p:ph type="ctrTitle"/>
          </p:nvPr>
        </p:nvSpPr>
        <p:spPr>
          <a:xfrm>
            <a:off x="552650" y="1900989"/>
            <a:ext cx="11334549" cy="2696866"/>
          </a:xfrm>
        </p:spPr>
        <p:txBody>
          <a:bodyPr anchor="t">
            <a:noAutofit/>
          </a:bodyPr>
          <a:lstStyle/>
          <a:p>
            <a:pPr>
              <a:lnSpc>
                <a:spcPct val="90000"/>
              </a:lnSpc>
            </a:pPr>
            <a:r>
              <a:rPr lang="en-GB" b="1" dirty="0">
                <a:solidFill>
                  <a:srgbClr val="FFFFFF"/>
                </a:solidFill>
                <a:latin typeface="Times New Roman" panose="02020603050405020304" pitchFamily="18" charset="0"/>
                <a:cs typeface="Times New Roman" panose="02020603050405020304" pitchFamily="18" charset="0"/>
              </a:rPr>
              <a:t>		Pipeline Risk AI: </a:t>
            </a:r>
            <a:br>
              <a:rPr lang="en-GB" b="1" dirty="0">
                <a:solidFill>
                  <a:srgbClr val="FFFFFF"/>
                </a:solidFill>
                <a:latin typeface="Times New Roman" panose="02020603050405020304" pitchFamily="18" charset="0"/>
                <a:cs typeface="Times New Roman" panose="02020603050405020304" pitchFamily="18" charset="0"/>
              </a:rPr>
            </a:br>
            <a:r>
              <a:rPr lang="en-GB" b="1" dirty="0">
                <a:solidFill>
                  <a:srgbClr val="FFFFFF"/>
                </a:solidFill>
                <a:latin typeface="Times New Roman" panose="02020603050405020304" pitchFamily="18" charset="0"/>
                <a:cs typeface="Times New Roman" panose="02020603050405020304" pitchFamily="18" charset="0"/>
              </a:rPr>
              <a:t>Predicting Environmental </a:t>
            </a:r>
            <a:r>
              <a:rPr lang="en-GB" dirty="0">
                <a:solidFill>
                  <a:srgbClr val="FFFFFF"/>
                </a:solidFill>
                <a:latin typeface="Times New Roman" panose="02020603050405020304" pitchFamily="18" charset="0"/>
                <a:cs typeface="Times New Roman" panose="02020603050405020304" pitchFamily="18" charset="0"/>
              </a:rPr>
              <a:t>Assessment</a:t>
            </a:r>
            <a:r>
              <a:rPr lang="en-GB" b="1" dirty="0">
                <a:solidFill>
                  <a:srgbClr val="FFFFFF"/>
                </a:solidFill>
                <a:latin typeface="Times New Roman" panose="02020603050405020304" pitchFamily="18" charset="0"/>
                <a:cs typeface="Times New Roman" panose="02020603050405020304" pitchFamily="18" charset="0"/>
              </a:rPr>
              <a:t> </a:t>
            </a:r>
            <a:r>
              <a:rPr lang="en-GB" dirty="0">
                <a:solidFill>
                  <a:srgbClr val="FFFFFF"/>
                </a:solidFill>
                <a:latin typeface="Times New Roman" panose="02020603050405020304" pitchFamily="18" charset="0"/>
                <a:cs typeface="Times New Roman" panose="02020603050405020304" pitchFamily="18" charset="0"/>
              </a:rPr>
              <a:t>on</a:t>
            </a:r>
            <a:r>
              <a:rPr lang="en-GB" b="1" dirty="0">
                <a:solidFill>
                  <a:srgbClr val="FFFFFF"/>
                </a:solidFill>
                <a:latin typeface="Times New Roman" panose="02020603050405020304" pitchFamily="18" charset="0"/>
                <a:cs typeface="Times New Roman" panose="02020603050405020304" pitchFamily="18" charset="0"/>
              </a:rPr>
              <a:t> </a:t>
            </a:r>
            <a:r>
              <a:rPr lang="en-GB" dirty="0">
                <a:solidFill>
                  <a:srgbClr val="FFFFFF"/>
                </a:solidFill>
                <a:latin typeface="Times New Roman" panose="02020603050405020304" pitchFamily="18" charset="0"/>
                <a:cs typeface="Times New Roman" panose="02020603050405020304" pitchFamily="18" charset="0"/>
              </a:rPr>
              <a:t>Kenya</a:t>
            </a:r>
            <a:r>
              <a:rPr lang="en-GB" b="1" dirty="0">
                <a:solidFill>
                  <a:srgbClr val="FFFFFF"/>
                </a:solidFill>
                <a:latin typeface="Times New Roman" panose="02020603050405020304" pitchFamily="18" charset="0"/>
                <a:cs typeface="Times New Roman" panose="02020603050405020304" pitchFamily="18" charset="0"/>
              </a:rPr>
              <a:t> Oil Infrastructure</a:t>
            </a:r>
            <a:br>
              <a:rPr lang="en-GB" dirty="0">
                <a:solidFill>
                  <a:srgbClr val="FFFFFF"/>
                </a:solidFill>
              </a:rPr>
            </a:br>
            <a:endParaRPr lang="en-KE" dirty="0">
              <a:solidFill>
                <a:srgbClr val="FFFFFF"/>
              </a:solidFill>
            </a:endParaRPr>
          </a:p>
        </p:txBody>
      </p:sp>
      <p:cxnSp>
        <p:nvCxnSpPr>
          <p:cNvPr id="34" name="Straight Connector 33">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865274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7FBF3A-A984-AAB4-CCA5-7B13F7F3EC73}"/>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EE99E5B-A6A7-C588-5650-D16478FF4E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DE1D520-7FCE-8CC0-C00E-34488F31E227}"/>
              </a:ext>
            </a:extLst>
          </p:cNvPr>
          <p:cNvSpPr>
            <a:spLocks noGrp="1"/>
          </p:cNvSpPr>
          <p:nvPr>
            <p:ph type="subTitle" idx="1"/>
          </p:nvPr>
        </p:nvSpPr>
        <p:spPr>
          <a:xfrm>
            <a:off x="3737811" y="-127431"/>
            <a:ext cx="3529262" cy="635602"/>
          </a:xfrm>
        </p:spPr>
        <p:txBody>
          <a:bodyPr anchor="t">
            <a:normAutofit lnSpcReduction="10000"/>
          </a:bodyPr>
          <a:lstStyle/>
          <a:p>
            <a:r>
              <a:rPr lang="en-GB" sz="3200" dirty="0">
                <a:solidFill>
                  <a:srgbClr val="FFFFFF"/>
                </a:solidFill>
                <a:latin typeface="Times New Roman" panose="02020603050405020304" pitchFamily="18" charset="0"/>
                <a:cs typeface="Times New Roman" panose="02020603050405020304" pitchFamily="18" charset="0"/>
              </a:rPr>
              <a:t>NEURONAUTS</a:t>
            </a:r>
            <a:endParaRPr lang="en-KE" sz="3200" dirty="0">
              <a:solidFill>
                <a:srgbClr val="FFFFFF"/>
              </a:solidFill>
              <a:latin typeface="Times New Roman" panose="02020603050405020304" pitchFamily="18"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7AAE33BC-B8D7-0F5C-C026-F2EDAFFF34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2570" y="6272784"/>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Subtitle 2">
            <a:extLst>
              <a:ext uri="{FF2B5EF4-FFF2-40B4-BE49-F238E27FC236}">
                <a16:creationId xmlns:a16="http://schemas.microsoft.com/office/drawing/2014/main" id="{31DE48A8-604C-52D5-74F4-9AEB8D0AAE58}"/>
              </a:ext>
            </a:extLst>
          </p:cNvPr>
          <p:cNvSpPr txBox="1">
            <a:spLocks/>
          </p:cNvSpPr>
          <p:nvPr/>
        </p:nvSpPr>
        <p:spPr>
          <a:xfrm>
            <a:off x="208549" y="2839447"/>
            <a:ext cx="3529262" cy="635602"/>
          </a:xfrm>
          <a:prstGeom prst="rect">
            <a:avLst/>
          </a:prstGeom>
        </p:spPr>
        <p:txBody>
          <a:bodyPr vert="horz" lIns="91440" tIns="45720" rIns="91440" bIns="45720" rtlCol="0" anchor="t">
            <a:normAutofit/>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KE" sz="2000" b="0" dirty="0">
              <a:solidFill>
                <a:srgbClr val="FFFFFF"/>
              </a:solidFill>
              <a:latin typeface="Times New Roman" panose="02020603050405020304" pitchFamily="18" charset="0"/>
              <a:cs typeface="Times New Roman" panose="02020603050405020304" pitchFamily="18" charset="0"/>
            </a:endParaRPr>
          </a:p>
        </p:txBody>
      </p:sp>
      <p:grpSp>
        <p:nvGrpSpPr>
          <p:cNvPr id="35" name="Group 34">
            <a:extLst>
              <a:ext uri="{FF2B5EF4-FFF2-40B4-BE49-F238E27FC236}">
                <a16:creationId xmlns:a16="http://schemas.microsoft.com/office/drawing/2014/main" id="{4A1B904A-11C2-A23E-3BEA-B858A48136AA}"/>
              </a:ext>
            </a:extLst>
          </p:cNvPr>
          <p:cNvGrpSpPr/>
          <p:nvPr/>
        </p:nvGrpSpPr>
        <p:grpSpPr>
          <a:xfrm>
            <a:off x="745733" y="351817"/>
            <a:ext cx="2487101" cy="2643985"/>
            <a:chOff x="4172954" y="422231"/>
            <a:chExt cx="2487101" cy="2643985"/>
          </a:xfrm>
        </p:grpSpPr>
        <p:pic>
          <p:nvPicPr>
            <p:cNvPr id="25" name="Picture 24">
              <a:extLst>
                <a:ext uri="{FF2B5EF4-FFF2-40B4-BE49-F238E27FC236}">
                  <a16:creationId xmlns:a16="http://schemas.microsoft.com/office/drawing/2014/main" id="{553CB3DD-5A1D-C154-13D9-5BE5F9B006B9}"/>
                </a:ext>
              </a:extLst>
            </p:cNvPr>
            <p:cNvPicPr>
              <a:picLocks noChangeAspect="1"/>
            </p:cNvPicPr>
            <p:nvPr/>
          </p:nvPicPr>
          <p:blipFill>
            <a:blip r:embed="rId2">
              <a:extLst>
                <a:ext uri="{28A0092B-C50C-407E-A947-70E740481C1C}">
                  <a14:useLocalDpi xmlns:a14="http://schemas.microsoft.com/office/drawing/2010/main" val="0"/>
                </a:ext>
              </a:extLst>
            </a:blip>
            <a:srcRect l="15770" r="15770"/>
            <a:stretch/>
          </p:blipFill>
          <p:spPr>
            <a:xfrm>
              <a:off x="4172954" y="422231"/>
              <a:ext cx="2111484" cy="2203845"/>
            </a:xfrm>
            <a:prstGeom prst="rect">
              <a:avLst/>
            </a:prstGeom>
          </p:spPr>
        </p:pic>
        <p:sp>
          <p:nvSpPr>
            <p:cNvPr id="31" name="TextBox 30">
              <a:extLst>
                <a:ext uri="{FF2B5EF4-FFF2-40B4-BE49-F238E27FC236}">
                  <a16:creationId xmlns:a16="http://schemas.microsoft.com/office/drawing/2014/main" id="{4C868D71-6322-880B-2BC3-328F198317DB}"/>
                </a:ext>
              </a:extLst>
            </p:cNvPr>
            <p:cNvSpPr txBox="1"/>
            <p:nvPr/>
          </p:nvSpPr>
          <p:spPr>
            <a:xfrm>
              <a:off x="4228876" y="2542996"/>
              <a:ext cx="2431179" cy="523220"/>
            </a:xfrm>
            <a:prstGeom prst="rect">
              <a:avLst/>
            </a:prstGeom>
            <a:noFill/>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Peter Mwaura</a:t>
              </a:r>
            </a:p>
            <a:p>
              <a:r>
                <a:rPr lang="en-US" sz="1400" dirty="0">
                  <a:solidFill>
                    <a:srgbClr val="FFFFFF"/>
                  </a:solidFill>
                  <a:latin typeface="Times New Roman" panose="02020603050405020304" pitchFamily="18" charset="0"/>
                  <a:cs typeface="Times New Roman" panose="02020603050405020304" pitchFamily="18" charset="0"/>
                </a:rPr>
                <a:t>Entrepreneur/Innovator</a:t>
              </a:r>
              <a:endParaRPr lang="en-KE" sz="1400" dirty="0"/>
            </a:p>
          </p:txBody>
        </p:sp>
      </p:grpSp>
      <p:grpSp>
        <p:nvGrpSpPr>
          <p:cNvPr id="36" name="Group 35">
            <a:extLst>
              <a:ext uri="{FF2B5EF4-FFF2-40B4-BE49-F238E27FC236}">
                <a16:creationId xmlns:a16="http://schemas.microsoft.com/office/drawing/2014/main" id="{0E14E9AA-4B48-C413-4657-909FA7DCBD13}"/>
              </a:ext>
            </a:extLst>
          </p:cNvPr>
          <p:cNvGrpSpPr/>
          <p:nvPr/>
        </p:nvGrpSpPr>
        <p:grpSpPr>
          <a:xfrm>
            <a:off x="4426423" y="1949030"/>
            <a:ext cx="2711116" cy="2749277"/>
            <a:chOff x="1264291" y="339151"/>
            <a:chExt cx="2711116" cy="2749277"/>
          </a:xfrm>
        </p:grpSpPr>
        <p:pic>
          <p:nvPicPr>
            <p:cNvPr id="11" name="Picture 10" descr="A person in a white suit&#10;&#10;AI-generated content may be incorrect.">
              <a:extLst>
                <a:ext uri="{FF2B5EF4-FFF2-40B4-BE49-F238E27FC236}">
                  <a16:creationId xmlns:a16="http://schemas.microsoft.com/office/drawing/2014/main" id="{7B1CA32B-84DB-771C-02C9-0DC61309E582}"/>
                </a:ext>
              </a:extLst>
            </p:cNvPr>
            <p:cNvPicPr>
              <a:picLocks noChangeAspect="1"/>
            </p:cNvPicPr>
            <p:nvPr/>
          </p:nvPicPr>
          <p:blipFill>
            <a:blip r:embed="rId3">
              <a:extLst>
                <a:ext uri="{28A0092B-C50C-407E-A947-70E740481C1C}">
                  <a14:useLocalDpi xmlns:a14="http://schemas.microsoft.com/office/drawing/2010/main" val="0"/>
                </a:ext>
              </a:extLst>
            </a:blip>
            <a:srcRect l="26140" t="20454" r="23684" b="42781"/>
            <a:stretch/>
          </p:blipFill>
          <p:spPr>
            <a:xfrm>
              <a:off x="1345993" y="339151"/>
              <a:ext cx="2111484" cy="2203845"/>
            </a:xfrm>
            <a:prstGeom prst="rect">
              <a:avLst/>
            </a:prstGeom>
          </p:spPr>
        </p:pic>
        <p:sp>
          <p:nvSpPr>
            <p:cNvPr id="22" name="TextBox 21">
              <a:extLst>
                <a:ext uri="{FF2B5EF4-FFF2-40B4-BE49-F238E27FC236}">
                  <a16:creationId xmlns:a16="http://schemas.microsoft.com/office/drawing/2014/main" id="{60F12B55-3EA1-EB37-27AC-FEB76C7E5579}"/>
                </a:ext>
              </a:extLst>
            </p:cNvPr>
            <p:cNvSpPr txBox="1"/>
            <p:nvPr/>
          </p:nvSpPr>
          <p:spPr>
            <a:xfrm>
              <a:off x="1264291" y="2565208"/>
              <a:ext cx="2711116" cy="523220"/>
            </a:xfrm>
            <a:prstGeom prst="rect">
              <a:avLst/>
            </a:prstGeom>
            <a:noFill/>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Kavetza Michelle </a:t>
              </a:r>
            </a:p>
            <a:p>
              <a:r>
                <a:rPr lang="en-US" sz="1400" dirty="0">
                  <a:solidFill>
                    <a:srgbClr val="FFFFFF"/>
                  </a:solidFill>
                  <a:latin typeface="Times New Roman" panose="02020603050405020304" pitchFamily="18" charset="0"/>
                  <a:cs typeface="Times New Roman" panose="02020603050405020304" pitchFamily="18" charset="0"/>
                </a:rPr>
                <a:t>Petroleum Geologist/Data Scientist</a:t>
              </a:r>
              <a:endParaRPr lang="en-KE" sz="1400" dirty="0"/>
            </a:p>
          </p:txBody>
        </p:sp>
      </p:grpSp>
      <p:grpSp>
        <p:nvGrpSpPr>
          <p:cNvPr id="46" name="Group 45">
            <a:extLst>
              <a:ext uri="{FF2B5EF4-FFF2-40B4-BE49-F238E27FC236}">
                <a16:creationId xmlns:a16="http://schemas.microsoft.com/office/drawing/2014/main" id="{C45EBCDF-9A48-4558-8469-C58466FD2A61}"/>
              </a:ext>
            </a:extLst>
          </p:cNvPr>
          <p:cNvGrpSpPr/>
          <p:nvPr/>
        </p:nvGrpSpPr>
        <p:grpSpPr>
          <a:xfrm>
            <a:off x="8196917" y="282135"/>
            <a:ext cx="2935705" cy="2643985"/>
            <a:chOff x="8196917" y="282135"/>
            <a:chExt cx="2935705" cy="2643985"/>
          </a:xfrm>
        </p:grpSpPr>
        <p:pic>
          <p:nvPicPr>
            <p:cNvPr id="32" name="Picture 31">
              <a:extLst>
                <a:ext uri="{FF2B5EF4-FFF2-40B4-BE49-F238E27FC236}">
                  <a16:creationId xmlns:a16="http://schemas.microsoft.com/office/drawing/2014/main" id="{2D909CCC-40CE-B6F3-27E2-73A84CF0AD80}"/>
                </a:ext>
              </a:extLst>
            </p:cNvPr>
            <p:cNvPicPr>
              <a:picLocks noChangeAspect="1"/>
            </p:cNvPicPr>
            <p:nvPr/>
          </p:nvPicPr>
          <p:blipFill>
            <a:blip r:embed="rId4">
              <a:extLst>
                <a:ext uri="{28A0092B-C50C-407E-A947-70E740481C1C}">
                  <a14:useLocalDpi xmlns:a14="http://schemas.microsoft.com/office/drawing/2010/main" val="0"/>
                </a:ext>
              </a:extLst>
            </a:blip>
            <a:srcRect t="2956" b="2956"/>
            <a:stretch/>
          </p:blipFill>
          <p:spPr>
            <a:xfrm>
              <a:off x="8196917" y="282135"/>
              <a:ext cx="2111484" cy="2203845"/>
            </a:xfrm>
            <a:prstGeom prst="rect">
              <a:avLst/>
            </a:prstGeom>
          </p:spPr>
        </p:pic>
        <p:sp>
          <p:nvSpPr>
            <p:cNvPr id="34" name="TextBox 33">
              <a:extLst>
                <a:ext uri="{FF2B5EF4-FFF2-40B4-BE49-F238E27FC236}">
                  <a16:creationId xmlns:a16="http://schemas.microsoft.com/office/drawing/2014/main" id="{B9037828-3926-E1ED-AF88-7DBD7CF53BE1}"/>
                </a:ext>
              </a:extLst>
            </p:cNvPr>
            <p:cNvSpPr txBox="1"/>
            <p:nvPr/>
          </p:nvSpPr>
          <p:spPr>
            <a:xfrm>
              <a:off x="8196917" y="2402900"/>
              <a:ext cx="2935705" cy="523220"/>
            </a:xfrm>
            <a:prstGeom prst="rect">
              <a:avLst/>
            </a:prstGeom>
            <a:noFill/>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Lisa Mwangi</a:t>
              </a:r>
            </a:p>
            <a:p>
              <a:r>
                <a:rPr lang="en-US" sz="1400" dirty="0">
                  <a:solidFill>
                    <a:srgbClr val="FFFFFF"/>
                  </a:solidFill>
                  <a:latin typeface="Times New Roman" panose="02020603050405020304" pitchFamily="18" charset="0"/>
                  <a:cs typeface="Times New Roman" panose="02020603050405020304" pitchFamily="18" charset="0"/>
                </a:rPr>
                <a:t>Health Administrator/ Data Scientist</a:t>
              </a:r>
              <a:endParaRPr lang="en-KE" sz="1400" dirty="0"/>
            </a:p>
          </p:txBody>
        </p:sp>
      </p:grpSp>
      <p:grpSp>
        <p:nvGrpSpPr>
          <p:cNvPr id="44" name="Group 43">
            <a:extLst>
              <a:ext uri="{FF2B5EF4-FFF2-40B4-BE49-F238E27FC236}">
                <a16:creationId xmlns:a16="http://schemas.microsoft.com/office/drawing/2014/main" id="{2A65A2E6-433A-5CC7-B92D-820CBB912BE6}"/>
              </a:ext>
            </a:extLst>
          </p:cNvPr>
          <p:cNvGrpSpPr/>
          <p:nvPr/>
        </p:nvGrpSpPr>
        <p:grpSpPr>
          <a:xfrm>
            <a:off x="740778" y="3313771"/>
            <a:ext cx="3048000" cy="2918485"/>
            <a:chOff x="508163" y="3288370"/>
            <a:chExt cx="3048000" cy="2918485"/>
          </a:xfrm>
        </p:grpSpPr>
        <p:pic>
          <p:nvPicPr>
            <p:cNvPr id="38" name="Picture 37">
              <a:extLst>
                <a:ext uri="{FF2B5EF4-FFF2-40B4-BE49-F238E27FC236}">
                  <a16:creationId xmlns:a16="http://schemas.microsoft.com/office/drawing/2014/main" id="{6D31BB02-2467-9CF4-C383-9E100DC0763A}"/>
                </a:ext>
              </a:extLst>
            </p:cNvPr>
            <p:cNvPicPr>
              <a:picLocks noChangeAspect="1"/>
            </p:cNvPicPr>
            <p:nvPr/>
          </p:nvPicPr>
          <p:blipFill>
            <a:blip r:embed="rId5">
              <a:extLst>
                <a:ext uri="{28A0092B-C50C-407E-A947-70E740481C1C}">
                  <a14:useLocalDpi xmlns:a14="http://schemas.microsoft.com/office/drawing/2010/main" val="0"/>
                </a:ext>
              </a:extLst>
            </a:blip>
            <a:srcRect t="2934" b="50070"/>
            <a:stretch/>
          </p:blipFill>
          <p:spPr>
            <a:xfrm>
              <a:off x="508163" y="3288370"/>
              <a:ext cx="2111484" cy="2181557"/>
            </a:xfrm>
            <a:prstGeom prst="rect">
              <a:avLst/>
            </a:prstGeom>
          </p:spPr>
        </p:pic>
        <p:sp>
          <p:nvSpPr>
            <p:cNvPr id="41" name="TextBox 40">
              <a:extLst>
                <a:ext uri="{FF2B5EF4-FFF2-40B4-BE49-F238E27FC236}">
                  <a16:creationId xmlns:a16="http://schemas.microsoft.com/office/drawing/2014/main" id="{3EC39D45-7D36-D9F6-888E-864BB6C98551}"/>
                </a:ext>
              </a:extLst>
            </p:cNvPr>
            <p:cNvSpPr txBox="1"/>
            <p:nvPr/>
          </p:nvSpPr>
          <p:spPr>
            <a:xfrm>
              <a:off x="508163" y="5468191"/>
              <a:ext cx="3048000" cy="738664"/>
            </a:xfrm>
            <a:prstGeom prst="rect">
              <a:avLst/>
            </a:prstGeom>
            <a:noFill/>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David Masai </a:t>
              </a:r>
            </a:p>
            <a:p>
              <a:r>
                <a:rPr lang="en-US" sz="1400" dirty="0">
                  <a:solidFill>
                    <a:srgbClr val="FFFFFF"/>
                  </a:solidFill>
                  <a:latin typeface="Times New Roman" panose="02020603050405020304" pitchFamily="18" charset="0"/>
                  <a:cs typeface="Times New Roman" panose="02020603050405020304" pitchFamily="18" charset="0"/>
                </a:rPr>
                <a:t>Health Systems Developer &amp; Manager/ </a:t>
              </a:r>
            </a:p>
            <a:p>
              <a:r>
                <a:rPr lang="en-US" sz="1400" dirty="0">
                  <a:solidFill>
                    <a:srgbClr val="FFFFFF"/>
                  </a:solidFill>
                  <a:latin typeface="Times New Roman" panose="02020603050405020304" pitchFamily="18" charset="0"/>
                  <a:cs typeface="Times New Roman" panose="02020603050405020304" pitchFamily="18" charset="0"/>
                </a:rPr>
                <a:t>ML Engineer</a:t>
              </a:r>
            </a:p>
          </p:txBody>
        </p:sp>
      </p:grpSp>
      <p:grpSp>
        <p:nvGrpSpPr>
          <p:cNvPr id="45" name="Group 44">
            <a:extLst>
              <a:ext uri="{FF2B5EF4-FFF2-40B4-BE49-F238E27FC236}">
                <a16:creationId xmlns:a16="http://schemas.microsoft.com/office/drawing/2014/main" id="{7B3483A4-3B63-BE5E-1BD0-F5EE0D85D9C0}"/>
              </a:ext>
            </a:extLst>
          </p:cNvPr>
          <p:cNvGrpSpPr/>
          <p:nvPr/>
        </p:nvGrpSpPr>
        <p:grpSpPr>
          <a:xfrm>
            <a:off x="8196917" y="2722565"/>
            <a:ext cx="2767262" cy="3298911"/>
            <a:chOff x="8196917" y="2728285"/>
            <a:chExt cx="2767262" cy="3298911"/>
          </a:xfrm>
        </p:grpSpPr>
        <p:pic>
          <p:nvPicPr>
            <p:cNvPr id="39" name="Picture 38">
              <a:extLst>
                <a:ext uri="{FF2B5EF4-FFF2-40B4-BE49-F238E27FC236}">
                  <a16:creationId xmlns:a16="http://schemas.microsoft.com/office/drawing/2014/main" id="{7F9A83DD-B5B4-C9B7-441F-EDC0A5CB11D5}"/>
                </a:ext>
              </a:extLst>
            </p:cNvPr>
            <p:cNvPicPr>
              <a:picLocks noChangeAspect="1"/>
            </p:cNvPicPr>
            <p:nvPr/>
          </p:nvPicPr>
          <p:blipFill>
            <a:blip r:embed="rId6">
              <a:extLst>
                <a:ext uri="{28A0092B-C50C-407E-A947-70E740481C1C}">
                  <a14:useLocalDpi xmlns:a14="http://schemas.microsoft.com/office/drawing/2010/main" val="0"/>
                </a:ext>
              </a:extLst>
            </a:blip>
            <a:srcRect l="2059" t="-12510" r="-6003" b="40159"/>
            <a:stretch/>
          </p:blipFill>
          <p:spPr>
            <a:xfrm>
              <a:off x="8196917" y="2728285"/>
              <a:ext cx="2431179" cy="2741378"/>
            </a:xfrm>
            <a:prstGeom prst="rect">
              <a:avLst/>
            </a:prstGeom>
          </p:spPr>
        </p:pic>
        <p:sp>
          <p:nvSpPr>
            <p:cNvPr id="43" name="TextBox 42">
              <a:extLst>
                <a:ext uri="{FF2B5EF4-FFF2-40B4-BE49-F238E27FC236}">
                  <a16:creationId xmlns:a16="http://schemas.microsoft.com/office/drawing/2014/main" id="{691EF0BD-6595-21A2-FEB7-AD2067F69F12}"/>
                </a:ext>
              </a:extLst>
            </p:cNvPr>
            <p:cNvSpPr txBox="1"/>
            <p:nvPr/>
          </p:nvSpPr>
          <p:spPr>
            <a:xfrm>
              <a:off x="8365358" y="5503976"/>
              <a:ext cx="2598821" cy="523220"/>
            </a:xfrm>
            <a:prstGeom prst="rect">
              <a:avLst/>
            </a:prstGeom>
            <a:noFill/>
          </p:spPr>
          <p:txBody>
            <a:bodyPr wrap="square">
              <a:spAutoFit/>
            </a:bodyPr>
            <a:lstStyle/>
            <a:p>
              <a:r>
                <a:rPr lang="en-US" sz="1400" dirty="0">
                  <a:solidFill>
                    <a:srgbClr val="FFFFFF"/>
                  </a:solidFill>
                  <a:latin typeface="Times New Roman" panose="02020603050405020304" pitchFamily="18" charset="0"/>
                  <a:cs typeface="Times New Roman" panose="02020603050405020304" pitchFamily="18" charset="0"/>
                </a:rPr>
                <a:t>Simon Ndichu</a:t>
              </a:r>
            </a:p>
            <a:p>
              <a:r>
                <a:rPr lang="en-US" sz="1400" dirty="0">
                  <a:solidFill>
                    <a:srgbClr val="FFFFFF"/>
                  </a:solidFill>
                  <a:latin typeface="Times New Roman" panose="02020603050405020304" pitchFamily="18" charset="0"/>
                  <a:cs typeface="Times New Roman" panose="02020603050405020304" pitchFamily="18" charset="0"/>
                </a:rPr>
                <a:t>Statistician/ Data Analyst</a:t>
              </a:r>
            </a:p>
          </p:txBody>
        </p:sp>
      </p:grpSp>
    </p:spTree>
    <p:extLst>
      <p:ext uri="{BB962C8B-B14F-4D97-AF65-F5344CB8AC3E}">
        <p14:creationId xmlns:p14="http://schemas.microsoft.com/office/powerpoint/2010/main" val="31585243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nodePh="1">
                                  <p:stCondLst>
                                    <p:cond delay="1500"/>
                                  </p:stCondLst>
                                  <p:endCondLst>
                                    <p:cond evt="begin" delay="0">
                                      <p:tn val="8"/>
                                    </p:cond>
                                  </p:endCondLst>
                                  <p:iterate>
                                    <p:tmPct val="10000"/>
                                  </p:iterate>
                                  <p:childTnLst>
                                    <p:set>
                                      <p:cBhvr>
                                        <p:cTn id="9" dur="1" fill="hold">
                                          <p:stCondLst>
                                            <p:cond delay="0"/>
                                          </p:stCondLst>
                                        </p:cTn>
                                        <p:tgtEl>
                                          <p:spTgt spid="20">
                                            <p:txEl>
                                              <p:pRg st="0" end="0"/>
                                            </p:txEl>
                                          </p:spTgt>
                                        </p:tgtEl>
                                        <p:attrNameLst>
                                          <p:attrName>style.visibility</p:attrName>
                                        </p:attrNameLst>
                                      </p:cBhvr>
                                      <p:to>
                                        <p:strVal val="visible"/>
                                      </p:to>
                                    </p:set>
                                    <p:animEffect transition="in" filter="fade">
                                      <p:cBhvr>
                                        <p:cTn id="10" dur="700"/>
                                        <p:tgtEl>
                                          <p:spTgt spid="20">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1000"/>
                                        <p:tgtEl>
                                          <p:spTgt spid="35"/>
                                        </p:tgtEl>
                                      </p:cBhvr>
                                    </p:animEffect>
                                    <p:anim calcmode="lin" valueType="num">
                                      <p:cBhvr>
                                        <p:cTn id="16" dur="1000" fill="hold"/>
                                        <p:tgtEl>
                                          <p:spTgt spid="35"/>
                                        </p:tgtEl>
                                        <p:attrNameLst>
                                          <p:attrName>ppt_x</p:attrName>
                                        </p:attrNameLst>
                                      </p:cBhvr>
                                      <p:tavLst>
                                        <p:tav tm="0">
                                          <p:val>
                                            <p:strVal val="#ppt_x"/>
                                          </p:val>
                                        </p:tav>
                                        <p:tav tm="100000">
                                          <p:val>
                                            <p:strVal val="#ppt_x"/>
                                          </p:val>
                                        </p:tav>
                                      </p:tavLst>
                                    </p:anim>
                                    <p:anim calcmode="lin" valueType="num">
                                      <p:cBhvr>
                                        <p:cTn id="17" dur="1000" fill="hold"/>
                                        <p:tgtEl>
                                          <p:spTgt spid="35"/>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44"/>
                                        </p:tgtEl>
                                        <p:attrNameLst>
                                          <p:attrName>style.visibility</p:attrName>
                                        </p:attrNameLst>
                                      </p:cBhvr>
                                      <p:to>
                                        <p:strVal val="visible"/>
                                      </p:to>
                                    </p:set>
                                    <p:animEffect transition="in" filter="fade">
                                      <p:cBhvr>
                                        <p:cTn id="20" dur="1000"/>
                                        <p:tgtEl>
                                          <p:spTgt spid="44"/>
                                        </p:tgtEl>
                                      </p:cBhvr>
                                    </p:animEffect>
                                    <p:anim calcmode="lin" valueType="num">
                                      <p:cBhvr>
                                        <p:cTn id="21" dur="1000" fill="hold"/>
                                        <p:tgtEl>
                                          <p:spTgt spid="44"/>
                                        </p:tgtEl>
                                        <p:attrNameLst>
                                          <p:attrName>ppt_x</p:attrName>
                                        </p:attrNameLst>
                                      </p:cBhvr>
                                      <p:tavLst>
                                        <p:tav tm="0">
                                          <p:val>
                                            <p:strVal val="#ppt_x"/>
                                          </p:val>
                                        </p:tav>
                                        <p:tav tm="100000">
                                          <p:val>
                                            <p:strVal val="#ppt_x"/>
                                          </p:val>
                                        </p:tav>
                                      </p:tavLst>
                                    </p:anim>
                                    <p:anim calcmode="lin" valueType="num">
                                      <p:cBhvr>
                                        <p:cTn id="22" dur="1000" fill="hold"/>
                                        <p:tgtEl>
                                          <p:spTgt spid="44"/>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1000"/>
                                        <p:tgtEl>
                                          <p:spTgt spid="36"/>
                                        </p:tgtEl>
                                      </p:cBhvr>
                                    </p:animEffect>
                                    <p:anim calcmode="lin" valueType="num">
                                      <p:cBhvr>
                                        <p:cTn id="26" dur="1000" fill="hold"/>
                                        <p:tgtEl>
                                          <p:spTgt spid="36"/>
                                        </p:tgtEl>
                                        <p:attrNameLst>
                                          <p:attrName>ppt_x</p:attrName>
                                        </p:attrNameLst>
                                      </p:cBhvr>
                                      <p:tavLst>
                                        <p:tav tm="0">
                                          <p:val>
                                            <p:strVal val="#ppt_x"/>
                                          </p:val>
                                        </p:tav>
                                        <p:tav tm="100000">
                                          <p:val>
                                            <p:strVal val="#ppt_x"/>
                                          </p:val>
                                        </p:tav>
                                      </p:tavLst>
                                    </p:anim>
                                    <p:anim calcmode="lin" valueType="num">
                                      <p:cBhvr>
                                        <p:cTn id="27" dur="1000" fill="hold"/>
                                        <p:tgtEl>
                                          <p:spTgt spid="36"/>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45"/>
                                        </p:tgtEl>
                                        <p:attrNameLst>
                                          <p:attrName>style.visibility</p:attrName>
                                        </p:attrNameLst>
                                      </p:cBhvr>
                                      <p:to>
                                        <p:strVal val="visible"/>
                                      </p:to>
                                    </p:set>
                                    <p:animEffect transition="in" filter="fade">
                                      <p:cBhvr>
                                        <p:cTn id="30" dur="1000"/>
                                        <p:tgtEl>
                                          <p:spTgt spid="45"/>
                                        </p:tgtEl>
                                      </p:cBhvr>
                                    </p:animEffect>
                                    <p:anim calcmode="lin" valueType="num">
                                      <p:cBhvr>
                                        <p:cTn id="31" dur="1000" fill="hold"/>
                                        <p:tgtEl>
                                          <p:spTgt spid="45"/>
                                        </p:tgtEl>
                                        <p:attrNameLst>
                                          <p:attrName>ppt_x</p:attrName>
                                        </p:attrNameLst>
                                      </p:cBhvr>
                                      <p:tavLst>
                                        <p:tav tm="0">
                                          <p:val>
                                            <p:strVal val="#ppt_x"/>
                                          </p:val>
                                        </p:tav>
                                        <p:tav tm="100000">
                                          <p:val>
                                            <p:strVal val="#ppt_x"/>
                                          </p:val>
                                        </p:tav>
                                      </p:tavLst>
                                    </p:anim>
                                    <p:anim calcmode="lin" valueType="num">
                                      <p:cBhvr>
                                        <p:cTn id="32" dur="1000" fill="hold"/>
                                        <p:tgtEl>
                                          <p:spTgt spid="45"/>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1000"/>
                                        <p:tgtEl>
                                          <p:spTgt spid="46"/>
                                        </p:tgtEl>
                                      </p:cBhvr>
                                    </p:animEffect>
                                    <p:anim calcmode="lin" valueType="num">
                                      <p:cBhvr>
                                        <p:cTn id="36" dur="1000" fill="hold"/>
                                        <p:tgtEl>
                                          <p:spTgt spid="46"/>
                                        </p:tgtEl>
                                        <p:attrNameLst>
                                          <p:attrName>ppt_x</p:attrName>
                                        </p:attrNameLst>
                                      </p:cBhvr>
                                      <p:tavLst>
                                        <p:tav tm="0">
                                          <p:val>
                                            <p:strVal val="#ppt_x"/>
                                          </p:val>
                                        </p:tav>
                                        <p:tav tm="100000">
                                          <p:val>
                                            <p:strVal val="#ppt_x"/>
                                          </p:val>
                                        </p:tav>
                                      </p:tavLst>
                                    </p:anim>
                                    <p:anim calcmode="lin" valueType="num">
                                      <p:cBhvr>
                                        <p:cTn id="37"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83F5DDAF-7F82-5DF3-15E0-5C3DBBE92118}"/>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9412F98-649C-2E32-3451-740A87F2B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292D18CB-3BA7-C170-4AD9-136ED926316B}"/>
              </a:ext>
            </a:extLst>
          </p:cNvPr>
          <p:cNvPicPr>
            <a:picLocks noChangeAspect="1"/>
          </p:cNvPicPr>
          <p:nvPr/>
        </p:nvPicPr>
        <p:blipFill>
          <a:blip r:embed="rId2">
            <a:alphaModFix amt="20000"/>
          </a:blip>
          <a:srcRect t="20113" b="4888"/>
          <a:stretch/>
        </p:blipFill>
        <p:spPr>
          <a:xfrm>
            <a:off x="-406"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0C860D65-CABF-E394-31B0-96863F4466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73249BE5-E83F-3AA1-18E4-7DD6A89A21B4}"/>
              </a:ext>
            </a:extLst>
          </p:cNvPr>
          <p:cNvSpPr>
            <a:spLocks noGrp="1"/>
          </p:cNvSpPr>
          <p:nvPr>
            <p:ph type="ctrTitle"/>
          </p:nvPr>
        </p:nvSpPr>
        <p:spPr>
          <a:xfrm>
            <a:off x="0" y="1191725"/>
            <a:ext cx="12191592" cy="5955035"/>
          </a:xfrm>
        </p:spPr>
        <p:txBody>
          <a:bodyPr anchor="t">
            <a:noAutofit/>
          </a:bodyPr>
          <a:lstStyle/>
          <a:p>
            <a:pPr>
              <a:lnSpc>
                <a:spcPct val="150000"/>
              </a:lnSpc>
            </a:pPr>
            <a:r>
              <a:rPr lang="en-GB" sz="2000" b="0" dirty="0">
                <a:solidFill>
                  <a:srgbClr val="FFFFFF"/>
                </a:solidFill>
                <a:latin typeface="Times New Roman" panose="02020603050405020304" pitchFamily="18" charset="0"/>
                <a:cs typeface="Times New Roman" panose="02020603050405020304" pitchFamily="18" charset="0"/>
              </a:rPr>
              <a:t>Kenya and Africa more broadly are experiencing rapid growth in energy infrastructure, including new oil and gas pipelines. However, many of these projects intersect with sensitive ecological and social areas such as:</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-Human settlements</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-Roads and highways</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-Waterways and lakes</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Forest reserves and national parks</a:t>
            </a:r>
            <a:br>
              <a:rPr lang="en-GB" sz="2000" b="0" dirty="0">
                <a:solidFill>
                  <a:srgbClr val="FFFFFF"/>
                </a:solidFill>
                <a:latin typeface="Times New Roman" panose="02020603050405020304" pitchFamily="18" charset="0"/>
                <a:cs typeface="Times New Roman" panose="02020603050405020304" pitchFamily="18" charset="0"/>
              </a:rPr>
            </a:b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Why It Matters:</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-Environmental degradation</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-Legal and financial liabilities</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-Disruption to communities and biodiversity</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-Infrastructure inefficiency and public opposition</a:t>
            </a:r>
            <a:br>
              <a:rPr lang="en-GB" sz="2000" b="0" dirty="0">
                <a:solidFill>
                  <a:srgbClr val="FFFFFF"/>
                </a:solidFill>
                <a:latin typeface="Times New Roman" panose="02020603050405020304" pitchFamily="18" charset="0"/>
                <a:cs typeface="Times New Roman" panose="02020603050405020304" pitchFamily="18" charset="0"/>
              </a:rPr>
            </a:br>
            <a:endParaRPr lang="en-KE" sz="2000" b="0" dirty="0">
              <a:solidFill>
                <a:srgbClr val="FFFFFF"/>
              </a:solidFill>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43135B18-54A2-4A66-9E4C-34130603C001}"/>
              </a:ext>
            </a:extLst>
          </p:cNvPr>
          <p:cNvSpPr>
            <a:spLocks noGrp="1"/>
          </p:cNvSpPr>
          <p:nvPr>
            <p:ph type="subTitle" idx="1"/>
          </p:nvPr>
        </p:nvSpPr>
        <p:spPr>
          <a:xfrm>
            <a:off x="343696" y="396900"/>
            <a:ext cx="6402572" cy="634101"/>
          </a:xfrm>
        </p:spPr>
        <p:txBody>
          <a:bodyPr anchor="b">
            <a:normAutofit/>
          </a:bodyPr>
          <a:lstStyle/>
          <a:p>
            <a:r>
              <a:rPr lang="en-GB" sz="2800" dirty="0">
                <a:solidFill>
                  <a:srgbClr val="FFFFFF"/>
                </a:solidFill>
                <a:latin typeface="Times New Roman" panose="02020603050405020304" pitchFamily="18" charset="0"/>
                <a:cs typeface="Times New Roman" panose="02020603050405020304" pitchFamily="18" charset="0"/>
              </a:rPr>
              <a:t>BUSINESS UNDERSTANDING</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A54E7F2D-6178-BC8A-CE8A-05BD45C183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914065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4CA55DA4-E9D0-1273-0CD2-F9DC23B29589}"/>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C9BA15F-C1D1-9DD6-86CE-778079FCC8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7D543F63-3271-CC0D-007A-FDB8ADC63E48}"/>
              </a:ext>
            </a:extLst>
          </p:cNvPr>
          <p:cNvPicPr>
            <a:picLocks noChangeAspect="1"/>
          </p:cNvPicPr>
          <p:nvPr/>
        </p:nvPicPr>
        <p:blipFill>
          <a:blip r:embed="rId3">
            <a:alphaModFix amt="20000"/>
          </a:blip>
          <a:srcRect t="20113" b="4888"/>
          <a:stretch/>
        </p:blipFill>
        <p:spPr>
          <a:xfrm>
            <a:off x="256268" y="152"/>
            <a:ext cx="12191998" cy="6857848"/>
          </a:xfrm>
          <a:prstGeom prst="rect">
            <a:avLst/>
          </a:prstGeom>
          <a:blipFill dpi="0" rotWithShape="1">
            <a:blip r:embed="rId4">
              <a:alphaModFix amt="20000"/>
            </a:blip>
            <a:srcRect/>
            <a:tile tx="0" ty="0" sx="100000" sy="100000" flip="none" algn="tl"/>
          </a:blipFill>
        </p:spPr>
      </p:pic>
      <p:sp>
        <p:nvSpPr>
          <p:cNvPr id="25" name="Rectangle 24">
            <a:extLst>
              <a:ext uri="{FF2B5EF4-FFF2-40B4-BE49-F238E27FC236}">
                <a16:creationId xmlns:a16="http://schemas.microsoft.com/office/drawing/2014/main" id="{0883BED8-6BCF-4244-F148-8FEB7493ED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462D3E58-A454-8C80-DAEC-B010E40D0D2B}"/>
              </a:ext>
            </a:extLst>
          </p:cNvPr>
          <p:cNvSpPr>
            <a:spLocks noGrp="1"/>
          </p:cNvSpPr>
          <p:nvPr>
            <p:ph type="ctrTitle"/>
          </p:nvPr>
        </p:nvSpPr>
        <p:spPr>
          <a:xfrm>
            <a:off x="479147" y="1665024"/>
            <a:ext cx="11054615" cy="3723878"/>
          </a:xfrm>
        </p:spPr>
        <p:txBody>
          <a:bodyPr anchor="t">
            <a:noAutofit/>
          </a:bodyPr>
          <a:lstStyle/>
          <a:p>
            <a:pPr>
              <a:lnSpc>
                <a:spcPct val="150000"/>
              </a:lnSpc>
            </a:pPr>
            <a:r>
              <a:rPr lang="en-GB" sz="2000" b="0" dirty="0">
                <a:solidFill>
                  <a:srgbClr val="FFFFFF"/>
                </a:solidFill>
                <a:latin typeface="Times New Roman" panose="02020603050405020304" pitchFamily="18" charset="0"/>
                <a:cs typeface="Times New Roman" panose="02020603050405020304" pitchFamily="18" charset="0"/>
              </a:rPr>
              <a:t>Main Objective: To develop a predictive model that evaluates and optimizes oil and gas pipeline routes based on environmental risk and infrastructure cost, with a focus on Kenya and scalable use across Africa.</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Supporting Goals:</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Integrate geospatial layers (settlements, roads, rivers, lakes, national parks)</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Use machine learning to simulate and improve routing decisions</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Reduce future risks and delays through proactive planning</a:t>
            </a:r>
            <a:br>
              <a:rPr lang="en-GB" sz="2000" b="0" dirty="0">
                <a:solidFill>
                  <a:srgbClr val="FFFFFF"/>
                </a:solidFill>
                <a:latin typeface="Times New Roman" panose="02020603050405020304" pitchFamily="18" charset="0"/>
                <a:cs typeface="Times New Roman" panose="02020603050405020304" pitchFamily="18" charset="0"/>
              </a:rPr>
            </a:b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Success Metrics:</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Minimized risk-weighted cost</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Improved environmental and community safety</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Alignment with existing infrastructure for cost efficiency</a:t>
            </a:r>
            <a:endParaRPr lang="en-KE" sz="2000" b="0" dirty="0">
              <a:solidFill>
                <a:srgbClr val="FFFFFF"/>
              </a:solidFill>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EFE62D23-F7B7-05B5-403E-03FD09202DF3}"/>
              </a:ext>
            </a:extLst>
          </p:cNvPr>
          <p:cNvSpPr>
            <a:spLocks noGrp="1"/>
          </p:cNvSpPr>
          <p:nvPr>
            <p:ph type="subTitle" idx="1"/>
          </p:nvPr>
        </p:nvSpPr>
        <p:spPr>
          <a:xfrm>
            <a:off x="479147" y="396902"/>
            <a:ext cx="6402572" cy="634099"/>
          </a:xfrm>
        </p:spPr>
        <p:txBody>
          <a:bodyPr anchor="b">
            <a:normAutofit/>
          </a:bodyPr>
          <a:lstStyle/>
          <a:p>
            <a:r>
              <a:rPr lang="en-GB" sz="2800" dirty="0" err="1">
                <a:solidFill>
                  <a:srgbClr val="FFFFFF"/>
                </a:solidFill>
                <a:latin typeface="Times New Roman" panose="02020603050405020304" pitchFamily="18" charset="0"/>
                <a:cs typeface="Times New Roman" panose="02020603050405020304" pitchFamily="18" charset="0"/>
              </a:rPr>
              <a:t>Cont</a:t>
            </a:r>
            <a:r>
              <a:rPr lang="en-GB" sz="2800" dirty="0">
                <a:solidFill>
                  <a:srgbClr val="FFFFFF"/>
                </a:solidFill>
                <a:latin typeface="Times New Roman" panose="02020603050405020304" pitchFamily="18" charset="0"/>
                <a:cs typeface="Times New Roman" panose="02020603050405020304" pitchFamily="18" charset="0"/>
              </a:rPr>
              <a:t>…</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087044CA-D122-8F84-1327-AA39A20861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B6F5AEC-CCA7-5B55-EA22-0D7C1A86C079}"/>
              </a:ext>
            </a:extLst>
          </p:cNvPr>
          <p:cNvSpPr txBox="1"/>
          <p:nvPr/>
        </p:nvSpPr>
        <p:spPr>
          <a:xfrm>
            <a:off x="479147" y="1080249"/>
            <a:ext cx="6280484" cy="584775"/>
          </a:xfrm>
          <a:prstGeom prst="rect">
            <a:avLst/>
          </a:prstGeom>
          <a:noFill/>
        </p:spPr>
        <p:txBody>
          <a:bodyPr wrap="square">
            <a:spAutoFit/>
          </a:bodyPr>
          <a:lstStyle/>
          <a:p>
            <a:r>
              <a:rPr lang="en-GB" sz="3200" dirty="0">
                <a:solidFill>
                  <a:srgbClr val="FFFFFF"/>
                </a:solidFill>
                <a:latin typeface="Times New Roman" panose="02020603050405020304" pitchFamily="18" charset="0"/>
                <a:cs typeface="Times New Roman" panose="02020603050405020304" pitchFamily="18" charset="0"/>
              </a:rPr>
              <a:t>Objective &amp; Metrics</a:t>
            </a:r>
            <a:endParaRPr lang="en-KE" sz="3200" dirty="0"/>
          </a:p>
        </p:txBody>
      </p:sp>
    </p:spTree>
    <p:extLst>
      <p:ext uri="{BB962C8B-B14F-4D97-AF65-F5344CB8AC3E}">
        <p14:creationId xmlns:p14="http://schemas.microsoft.com/office/powerpoint/2010/main" val="135554350"/>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9C82C419-5A15-1227-C1D8-846C68652986}"/>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957EE6B-1743-4F06-9FB8-9004C47225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E8699C1D-354F-05EE-DB13-22BC894E16B2}"/>
              </a:ext>
            </a:extLst>
          </p:cNvPr>
          <p:cNvPicPr>
            <a:picLocks noChangeAspect="1"/>
          </p:cNvPicPr>
          <p:nvPr/>
        </p:nvPicPr>
        <p:blipFill>
          <a:blip r:embed="rId2">
            <a:alphaModFix amt="20000"/>
          </a:blip>
          <a:srcRect t="20113" b="4888"/>
          <a:stretch/>
        </p:blipFill>
        <p:spPr>
          <a:xfrm>
            <a:off x="-406"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E2272CC7-B7F0-FAD1-0960-5C5648D03C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1EC0D499-273E-7258-8A49-559ACE705F07}"/>
              </a:ext>
            </a:extLst>
          </p:cNvPr>
          <p:cNvSpPr>
            <a:spLocks noGrp="1"/>
          </p:cNvSpPr>
          <p:nvPr>
            <p:ph type="ctrTitle"/>
          </p:nvPr>
        </p:nvSpPr>
        <p:spPr>
          <a:xfrm>
            <a:off x="718052" y="1567061"/>
            <a:ext cx="11054615" cy="3723878"/>
          </a:xfrm>
        </p:spPr>
        <p:txBody>
          <a:bodyPr anchor="t">
            <a:noAutofit/>
          </a:bodyPr>
          <a:lstStyle/>
          <a:p>
            <a:pPr>
              <a:lnSpc>
                <a:spcPct val="150000"/>
              </a:lnSpc>
            </a:pPr>
            <a:b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GB"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As Kenya expands its oil and gas infrastructure, the placement of pipelines may pose a significant environmental threat. </a:t>
            </a:r>
            <a:br>
              <a:rPr kumimoji="0" lang="en-GB"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GB"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Many of these projects are routed through or near ecologically sensitive areas such as forests, water bodies, and protected lands. </a:t>
            </a:r>
            <a:br>
              <a:rPr kumimoji="0" lang="en-GB"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GB"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Traditional impact assessments are slow, costly, and often reactive. </a:t>
            </a:r>
            <a:br>
              <a:rPr kumimoji="0" lang="en-GB"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GB"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This project aims to automate the environmental risk assessment process by </a:t>
            </a:r>
            <a:r>
              <a:rPr lang="en-GB" sz="2000" b="0" dirty="0">
                <a:solidFill>
                  <a:srgbClr val="FFFFFF"/>
                </a:solidFill>
                <a:latin typeface="Times New Roman" panose="02020603050405020304" pitchFamily="18" charset="0"/>
                <a:cs typeface="Times New Roman" panose="02020603050405020304" pitchFamily="18" charset="0"/>
              </a:rPr>
              <a:t>evaluating</a:t>
            </a:r>
            <a:r>
              <a:rPr kumimoji="0" lang="en-GB"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 a  deep learning model that uses geospatial and pipeline metadata to classify infrastructure as high or low risk. Suitable or unsuitable</a:t>
            </a:r>
            <a:r>
              <a:rPr kumimoji="0" lang="en-GB" sz="2000" b="0" i="0" u="none" strike="noStrike" kern="1200" cap="none" spc="0" normalizeH="0" noProof="0" dirty="0">
                <a:ln>
                  <a:noFill/>
                </a:ln>
                <a:solidFill>
                  <a:srgbClr val="FFFFFF"/>
                </a:solidFill>
                <a:effectLst/>
                <a:uLnTx/>
                <a:uFillTx/>
                <a:latin typeface="Times New Roman" panose="02020603050405020304" pitchFamily="18" charset="0"/>
                <a:cs typeface="Times New Roman" panose="02020603050405020304" pitchFamily="18" charset="0"/>
              </a:rPr>
              <a:t> and using s</a:t>
            </a:r>
            <a:r>
              <a:rPr lang="en-GB" sz="2000" b="0" dirty="0">
                <a:solidFill>
                  <a:srgbClr val="FFFFFF"/>
                </a:solidFill>
                <a:latin typeface="Times New Roman" panose="02020603050405020304" pitchFamily="18" charset="0"/>
                <a:cs typeface="Times New Roman" panose="02020603050405020304" pitchFamily="18" charset="0"/>
              </a:rPr>
              <a:t>pat</a:t>
            </a:r>
            <a:r>
              <a:rPr kumimoji="0" lang="en-GB" sz="2000" b="0" i="0" u="none" strike="noStrike" kern="1200" cap="none" spc="0" normalizeH="0" noProof="0" dirty="0" err="1">
                <a:ln>
                  <a:noFill/>
                </a:ln>
                <a:solidFill>
                  <a:srgbClr val="FFFFFF"/>
                </a:solidFill>
                <a:effectLst/>
                <a:uLnTx/>
                <a:uFillTx/>
                <a:latin typeface="Times New Roman" panose="02020603050405020304" pitchFamily="18" charset="0"/>
                <a:cs typeface="Times New Roman" panose="02020603050405020304" pitchFamily="18" charset="0"/>
              </a:rPr>
              <a:t>ial</a:t>
            </a:r>
            <a:r>
              <a:rPr kumimoji="0" lang="en-GB" sz="2000" b="0" i="0" u="none" strike="noStrike" kern="1200" cap="none" spc="0" normalizeH="0" noProof="0" dirty="0">
                <a:ln>
                  <a:noFill/>
                </a:ln>
                <a:solidFill>
                  <a:srgbClr val="FFFFFF"/>
                </a:solidFill>
                <a:effectLst/>
                <a:uLnTx/>
                <a:uFillTx/>
                <a:latin typeface="Times New Roman" panose="02020603050405020304" pitchFamily="18" charset="0"/>
                <a:cs typeface="Times New Roman" panose="02020603050405020304" pitchFamily="18" charset="0"/>
              </a:rPr>
              <a:t> proximity to settlement.</a:t>
            </a:r>
            <a:endParaRPr lang="en-KE" sz="2000" b="0" dirty="0">
              <a:solidFill>
                <a:srgbClr val="FFFFFF"/>
              </a:solidFill>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FEFB7482-146E-AC89-0767-CACACDD3FEFE}"/>
              </a:ext>
            </a:extLst>
          </p:cNvPr>
          <p:cNvSpPr>
            <a:spLocks noGrp="1"/>
          </p:cNvSpPr>
          <p:nvPr>
            <p:ph type="subTitle" idx="1"/>
          </p:nvPr>
        </p:nvSpPr>
        <p:spPr>
          <a:xfrm>
            <a:off x="568285" y="533330"/>
            <a:ext cx="6402572" cy="1287887"/>
          </a:xfrm>
        </p:spPr>
        <p:txBody>
          <a:bodyPr anchor="b">
            <a:normAutofit/>
          </a:bodyPr>
          <a:lstStyle/>
          <a:p>
            <a:r>
              <a:rPr lang="en-GB" sz="2800">
                <a:solidFill>
                  <a:srgbClr val="FFFFFF"/>
                </a:solidFill>
                <a:latin typeface="Times New Roman" panose="02020603050405020304" pitchFamily="18" charset="0"/>
                <a:cs typeface="Times New Roman" panose="02020603050405020304" pitchFamily="18" charset="0"/>
              </a:rPr>
              <a:t>PROBLEM STATEMENT</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52B01769-9E09-A9C0-BF42-530C67C594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7481496"/>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D68C2F14-F15A-B66A-D092-01A8EAFF43BE}"/>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506F0774-0FBA-63F9-C861-9D1851E9F5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C9ECF45F-7A97-9DF3-60B1-1404B4CB8134}"/>
              </a:ext>
            </a:extLst>
          </p:cNvPr>
          <p:cNvPicPr>
            <a:picLocks noChangeAspect="1"/>
          </p:cNvPicPr>
          <p:nvPr/>
        </p:nvPicPr>
        <p:blipFill>
          <a:blip r:embed="rId2">
            <a:alphaModFix amt="20000"/>
          </a:blip>
          <a:srcRect t="20113" b="4888"/>
          <a:stretch/>
        </p:blipFill>
        <p:spPr>
          <a:xfrm>
            <a:off x="-406"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3BE25BA4-1A08-9DE0-F954-B81E13CE0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112BEA15-9557-67DB-B762-DD2418780965}"/>
              </a:ext>
            </a:extLst>
          </p:cNvPr>
          <p:cNvSpPr>
            <a:spLocks noGrp="1"/>
          </p:cNvSpPr>
          <p:nvPr>
            <p:ph type="ctrTitle"/>
          </p:nvPr>
        </p:nvSpPr>
        <p:spPr>
          <a:xfrm>
            <a:off x="569100" y="1821217"/>
            <a:ext cx="11054615" cy="3723878"/>
          </a:xfrm>
        </p:spPr>
        <p:txBody>
          <a:bodyPr anchor="t">
            <a:noAutofit/>
          </a:bodyPr>
          <a:lstStyle/>
          <a:p>
            <a:pPr>
              <a:lnSpc>
                <a:spcPct val="150000"/>
              </a:lnSpc>
            </a:pPr>
            <a:r>
              <a:rPr lang="en-GB" sz="2000" b="0" dirty="0">
                <a:solidFill>
                  <a:srgbClr val="FFFFFF"/>
                </a:solidFill>
                <a:latin typeface="Times New Roman" panose="02020603050405020304" pitchFamily="18" charset="0"/>
                <a:cs typeface="Times New Roman" panose="02020603050405020304" pitchFamily="18" charset="0"/>
              </a:rPr>
              <a:t>Which pipeline segments are in or near high-risk population areas?</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How does settlement and ecological features influence pipeline compliance?</a:t>
            </a:r>
            <a:br>
              <a:rPr lang="en-GB" sz="2000" b="0" dirty="0">
                <a:solidFill>
                  <a:srgbClr val="FFFFFF"/>
                </a:solidFill>
                <a:latin typeface="Times New Roman" panose="02020603050405020304" pitchFamily="18" charset="0"/>
                <a:cs typeface="Times New Roman" panose="02020603050405020304" pitchFamily="18" charset="0"/>
              </a:rPr>
            </a:br>
            <a:r>
              <a:rPr lang="en-GB" sz="2000" b="0" dirty="0">
                <a:solidFill>
                  <a:srgbClr val="FFFFFF"/>
                </a:solidFill>
                <a:latin typeface="Times New Roman" panose="02020603050405020304" pitchFamily="18" charset="0"/>
                <a:cs typeface="Times New Roman" panose="02020603050405020304" pitchFamily="18" charset="0"/>
              </a:rPr>
              <a:t>Which segments violate the minimum safe distance regulations?</a:t>
            </a:r>
            <a:endParaRPr lang="en-KE" sz="2000" b="0" dirty="0">
              <a:solidFill>
                <a:srgbClr val="FFFFFF"/>
              </a:solidFill>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44D7F4F1-8CD3-9EB2-57DC-9403851C1CFF}"/>
              </a:ext>
            </a:extLst>
          </p:cNvPr>
          <p:cNvSpPr>
            <a:spLocks noGrp="1"/>
          </p:cNvSpPr>
          <p:nvPr>
            <p:ph type="subTitle" idx="1"/>
          </p:nvPr>
        </p:nvSpPr>
        <p:spPr>
          <a:xfrm>
            <a:off x="568285" y="533330"/>
            <a:ext cx="6402572" cy="1287887"/>
          </a:xfrm>
        </p:spPr>
        <p:txBody>
          <a:bodyPr anchor="b">
            <a:normAutofit/>
          </a:bodyPr>
          <a:lstStyle/>
          <a:p>
            <a:r>
              <a:rPr lang="en-GB" sz="2800" dirty="0">
                <a:solidFill>
                  <a:srgbClr val="FFFFFF"/>
                </a:solidFill>
                <a:latin typeface="Times New Roman" panose="02020603050405020304" pitchFamily="18" charset="0"/>
                <a:cs typeface="Times New Roman" panose="02020603050405020304" pitchFamily="18" charset="0"/>
              </a:rPr>
              <a:t>Research QUESTIONS</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2113EBBF-8099-1F70-ED9C-90BCCD062A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948236"/>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F36F0F70-8F4A-7713-1B98-1BF4AF6A1416}"/>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7804FAA-05BE-5C51-E2C4-0FD77AD91F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29F4C3EE-8BCA-86CD-DB7F-FA87B3346F71}"/>
              </a:ext>
            </a:extLst>
          </p:cNvPr>
          <p:cNvPicPr>
            <a:picLocks noChangeAspect="1"/>
          </p:cNvPicPr>
          <p:nvPr/>
        </p:nvPicPr>
        <p:blipFill>
          <a:blip r:embed="rId2">
            <a:alphaModFix amt="20000"/>
          </a:blip>
          <a:srcRect t="20113" b="4888"/>
          <a:stretch/>
        </p:blipFill>
        <p:spPr>
          <a:xfrm>
            <a:off x="-406"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D43FC0EB-E625-D2FB-73F1-5BB00C3213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DD247C69-ABAA-C6C1-D89D-B02C2A85F960}"/>
              </a:ext>
            </a:extLst>
          </p:cNvPr>
          <p:cNvSpPr>
            <a:spLocks noGrp="1"/>
          </p:cNvSpPr>
          <p:nvPr>
            <p:ph type="ctrTitle"/>
          </p:nvPr>
        </p:nvSpPr>
        <p:spPr>
          <a:xfrm>
            <a:off x="568285" y="1528673"/>
            <a:ext cx="11054615" cy="4375117"/>
          </a:xfrm>
        </p:spPr>
        <p:txBody>
          <a:bodyPr anchor="t">
            <a:noAutofit/>
          </a:bodyPr>
          <a:lstStyle/>
          <a:p>
            <a:pPr>
              <a:lnSpc>
                <a:spcPct val="150000"/>
              </a:lnSpc>
            </a:pPr>
            <a:br>
              <a:rPr kumimoji="0" lang="en-US" sz="2000" b="1"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Environmental Agencies: For fast, data-driven environmental review of proposed projects</a:t>
            </a:r>
            <a:r>
              <a:rPr lang="en-US" sz="2000" b="0" dirty="0">
                <a:solidFill>
                  <a:srgbClr val="FFFFFF"/>
                </a:solidFill>
                <a:latin typeface="Times New Roman" panose="02020603050405020304" pitchFamily="18" charset="0"/>
                <a:cs typeface="Times New Roman" panose="02020603050405020304" pitchFamily="18" charset="0"/>
              </a:rPr>
              <a:t>.</a:t>
            </a:r>
            <a:b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Oil &amp; Gas Developers: To identify and reduce environmental risks during pipeline planning</a:t>
            </a:r>
            <a:r>
              <a:rPr lang="en-US" sz="2000" b="0" dirty="0">
                <a:solidFill>
                  <a:srgbClr val="FFFFFF"/>
                </a:solidFill>
                <a:latin typeface="Times New Roman" panose="02020603050405020304" pitchFamily="18" charset="0"/>
                <a:cs typeface="Times New Roman" panose="02020603050405020304" pitchFamily="18" charset="0"/>
              </a:rPr>
              <a:t>.</a:t>
            </a:r>
            <a:b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NGOs &amp; Watchdogs: For advocacy and monitoring of high-risk developments</a:t>
            </a:r>
            <a:r>
              <a:rPr lang="en-US" sz="2000" b="0" dirty="0">
                <a:solidFill>
                  <a:srgbClr val="FFFFFF"/>
                </a:solidFill>
                <a:latin typeface="Times New Roman" panose="02020603050405020304" pitchFamily="18" charset="0"/>
                <a:cs typeface="Times New Roman" panose="02020603050405020304" pitchFamily="18" charset="0"/>
              </a:rPr>
              <a:t>.</a:t>
            </a:r>
            <a:b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Policy Makers: To inform regulations and infrastructure zoning strategies.</a:t>
            </a:r>
            <a:endParaRPr lang="en-KE" sz="2000" b="0" dirty="0">
              <a:solidFill>
                <a:srgbClr val="FFFFFF"/>
              </a:solidFill>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7C6ECE28-DE02-391E-6DDE-34B7E3A205BA}"/>
              </a:ext>
            </a:extLst>
          </p:cNvPr>
          <p:cNvSpPr>
            <a:spLocks noGrp="1"/>
          </p:cNvSpPr>
          <p:nvPr>
            <p:ph type="subTitle" idx="1"/>
          </p:nvPr>
        </p:nvSpPr>
        <p:spPr>
          <a:xfrm>
            <a:off x="568285" y="533330"/>
            <a:ext cx="6402572" cy="1287887"/>
          </a:xfrm>
        </p:spPr>
        <p:txBody>
          <a:bodyPr anchor="b">
            <a:normAutofit/>
          </a:bodyPr>
          <a:lstStyle/>
          <a:p>
            <a:r>
              <a:rPr lang="en-GB" sz="2800" dirty="0">
                <a:solidFill>
                  <a:srgbClr val="FFFFFF"/>
                </a:solidFill>
                <a:latin typeface="Times New Roman" panose="02020603050405020304" pitchFamily="18" charset="0"/>
                <a:cs typeface="Times New Roman" panose="02020603050405020304" pitchFamily="18" charset="0"/>
              </a:rPr>
              <a:t>TARGET AUDIENCE</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1972447A-CE16-1F45-5EE5-66B83CB52B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5048174"/>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753655E6-76BC-2E05-8B6F-BC8F6DD0FF55}"/>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23DE464-0FE7-508D-F22D-93C756F9B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8CF3A4D8-261F-36F0-ADBD-F0937C092857}"/>
              </a:ext>
            </a:extLst>
          </p:cNvPr>
          <p:cNvPicPr>
            <a:picLocks noChangeAspect="1"/>
          </p:cNvPicPr>
          <p:nvPr/>
        </p:nvPicPr>
        <p:blipFill>
          <a:blip r:embed="rId2">
            <a:alphaModFix amt="20000"/>
          </a:blip>
          <a:srcRect t="20113" b="4888"/>
          <a:stretch/>
        </p:blipFill>
        <p:spPr>
          <a:xfrm>
            <a:off x="2"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F7A578E3-430E-391D-F294-0B17536CA9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65BE050C-710A-B54B-9DAA-DE2DCE9305A5}"/>
              </a:ext>
            </a:extLst>
          </p:cNvPr>
          <p:cNvSpPr>
            <a:spLocks noGrp="1"/>
          </p:cNvSpPr>
          <p:nvPr>
            <p:ph type="ctrTitle"/>
          </p:nvPr>
        </p:nvSpPr>
        <p:spPr>
          <a:xfrm>
            <a:off x="568285" y="1949554"/>
            <a:ext cx="11054615" cy="2696866"/>
          </a:xfrm>
        </p:spPr>
        <p:txBody>
          <a:bodyPr anchor="t">
            <a:noAutofit/>
          </a:bodyPr>
          <a:lstStyle/>
          <a:p>
            <a:pPr>
              <a:lnSpc>
                <a:spcPct val="90000"/>
              </a:lnSpc>
            </a:pPr>
            <a:br>
              <a:rPr kumimoji="0" lang="en-US" sz="2000" b="1"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endParaRPr lang="en-KE" sz="2000" dirty="0">
              <a:solidFill>
                <a:srgbClr val="FFFFFF"/>
              </a:solidFill>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26D1FC57-EE23-FE22-16EB-F39FD13479E1}"/>
              </a:ext>
            </a:extLst>
          </p:cNvPr>
          <p:cNvSpPr>
            <a:spLocks noGrp="1"/>
          </p:cNvSpPr>
          <p:nvPr>
            <p:ph type="subTitle" idx="1"/>
          </p:nvPr>
        </p:nvSpPr>
        <p:spPr>
          <a:xfrm>
            <a:off x="567877" y="1821436"/>
            <a:ext cx="6402572" cy="739790"/>
          </a:xfrm>
        </p:spPr>
        <p:txBody>
          <a:bodyPr anchor="b">
            <a:normAutofit/>
          </a:bodyPr>
          <a:lstStyle/>
          <a:p>
            <a:r>
              <a:rPr kumimoji="0" lang="en-KE" altLang="en-KE"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r>
              <a:rPr kumimoji="0" lang="en-GB" altLang="en-KE"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ATA UNDERSTANDING</a:t>
            </a:r>
            <a:endParaRPr kumimoji="0" lang="en-KE" altLang="en-KE"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BE97C940-61A4-4567-4E38-0957625529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5A5F9267-8046-943A-74A0-1A99FB8093D8}"/>
              </a:ext>
            </a:extLst>
          </p:cNvPr>
          <p:cNvSpPr>
            <a:spLocks noChangeArrowheads="1"/>
          </p:cNvSpPr>
          <p:nvPr/>
        </p:nvSpPr>
        <p:spPr bwMode="auto">
          <a:xfrm>
            <a:off x="567877" y="2130252"/>
            <a:ext cx="11486147"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All features are spatially pinned using EPSG:4326.</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Each layer is geometrically aligned with Turkana's boundary.</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Risk is defined spatially by proximity to sensitive features (parks, lakes, settlement).</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The new path improves observability, allowing better model training and evaluation.</a:t>
            </a:r>
          </a:p>
          <a:p>
            <a:pPr marL="0" marR="0" lvl="0" indent="0" algn="l" defTabSz="914400" rtl="0" eaLnBrk="0" fontAlgn="base" latinLnBrk="0" hangingPunct="0">
              <a:lnSpc>
                <a:spcPct val="100000"/>
              </a:lnSpc>
              <a:spcBef>
                <a:spcPct val="0"/>
              </a:spcBef>
              <a:spcAft>
                <a:spcPct val="0"/>
              </a:spcAft>
              <a:buClrTx/>
              <a:buSzTx/>
              <a:buFontTx/>
              <a:buNone/>
              <a:tabLst/>
            </a:pPr>
            <a:endParaRPr lang="en-GB" altLang="en-KE"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GB"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external</a:t>
            </a:r>
            <a:r>
              <a:rPr lang="en-GB" altLang="en-KE" sz="2000" dirty="0">
                <a:latin typeface="Times New Roman" panose="02020603050405020304" pitchFamily="18" charset="0"/>
                <a:cs typeface="Times New Roman" panose="02020603050405020304" pitchFamily="18" charset="0"/>
              </a:rPr>
              <a:t> d</a:t>
            </a:r>
            <a:r>
              <a:rPr kumimoji="0" lang="en-KE" altLang="en-KE"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atasets</a:t>
            </a:r>
            <a:r>
              <a:rPr kumimoji="0" lang="en-KE"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GB"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combined were </a:t>
            </a:r>
            <a:r>
              <a:rPr kumimoji="0" lang="en-KE"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lang="en-GB" altLang="en-KE" sz="2000" dirty="0">
                <a:latin typeface="Times New Roman" panose="02020603050405020304" pitchFamily="18" charset="0"/>
                <a:cs typeface="Times New Roman" panose="02020603050405020304" pitchFamily="18" charset="0"/>
              </a:rPr>
              <a:t>Kenyan </a:t>
            </a:r>
            <a:r>
              <a:rPr kumimoji="0" lang="en-KE"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rivers and lakes shapefiles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KE"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Protected area boundaries (from WDPA)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KE"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Satellite-derived NDVI or landcover indices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GB" altLang="en-KE" sz="1800" b="0" i="0" u="none" strike="noStrike" cap="none" normalizeH="0" baseline="0" dirty="0">
                <a:ln>
                  <a:noFill/>
                </a:ln>
                <a:solidFill>
                  <a:schemeClr val="tx1"/>
                </a:solidFill>
                <a:effectLst/>
                <a:latin typeface="Arial" panose="020B0604020202020204" pitchFamily="34" charset="0"/>
              </a:rPr>
              <a:t>Major roads and settlements</a:t>
            </a:r>
            <a:endParaRPr kumimoji="0" lang="en-KE" altLang="en-KE"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C460B50D-2153-18F1-D9FA-BFF9BBDE64F9}"/>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
        <p:nvSpPr>
          <p:cNvPr id="5" name="Rectangle 3">
            <a:extLst>
              <a:ext uri="{FF2B5EF4-FFF2-40B4-BE49-F238E27FC236}">
                <a16:creationId xmlns:a16="http://schemas.microsoft.com/office/drawing/2014/main" id="{32158C43-F61F-3A59-7C7D-6DDE391E3AAD}"/>
              </a:ext>
            </a:extLst>
          </p:cNvPr>
          <p:cNvSpPr>
            <a:spLocks noChangeArrowheads="1"/>
          </p:cNvSpPr>
          <p:nvPr/>
        </p:nvSpPr>
        <p:spPr bwMode="auto">
          <a:xfrm>
            <a:off x="0" y="4730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KE" altLang="en-KE" sz="16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KE" altLang="en-KE"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04778206"/>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C6B1CD60-3367-13B9-20E1-13C26CEE11DF}"/>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77B9C4-6BDD-77AD-B33A-C781DD2EF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04DF6D4D-C13A-7107-4349-2F3EE9CD9910}"/>
              </a:ext>
            </a:extLst>
          </p:cNvPr>
          <p:cNvPicPr>
            <a:picLocks noChangeAspect="1"/>
          </p:cNvPicPr>
          <p:nvPr/>
        </p:nvPicPr>
        <p:blipFill>
          <a:blip r:embed="rId2">
            <a:alphaModFix amt="20000"/>
          </a:blip>
          <a:srcRect t="20113" b="4888"/>
          <a:stretch/>
        </p:blipFill>
        <p:spPr>
          <a:xfrm>
            <a:off x="2"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1C928498-7902-07F2-437A-5BEE06DD2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1EB25BF9-5D3D-7338-8578-0FA17B4B7A93}"/>
              </a:ext>
            </a:extLst>
          </p:cNvPr>
          <p:cNvSpPr>
            <a:spLocks noGrp="1"/>
          </p:cNvSpPr>
          <p:nvPr>
            <p:ph type="ctrTitle"/>
          </p:nvPr>
        </p:nvSpPr>
        <p:spPr>
          <a:xfrm>
            <a:off x="568285" y="1949554"/>
            <a:ext cx="11054615" cy="2696866"/>
          </a:xfrm>
        </p:spPr>
        <p:txBody>
          <a:bodyPr anchor="t">
            <a:noAutofit/>
          </a:bodyPr>
          <a:lstStyle/>
          <a:p>
            <a:pPr>
              <a:lnSpc>
                <a:spcPct val="90000"/>
              </a:lnSpc>
            </a:pPr>
            <a:br>
              <a:rPr kumimoji="0" lang="en-US" sz="2000" b="1"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endParaRPr lang="en-KE" sz="2000" dirty="0">
              <a:solidFill>
                <a:srgbClr val="FFFFFF"/>
              </a:solidFill>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63C2B21D-8F21-887E-03A4-031BF12665A6}"/>
              </a:ext>
            </a:extLst>
          </p:cNvPr>
          <p:cNvSpPr>
            <a:spLocks noGrp="1"/>
          </p:cNvSpPr>
          <p:nvPr>
            <p:ph type="subTitle" idx="1"/>
          </p:nvPr>
        </p:nvSpPr>
        <p:spPr>
          <a:xfrm>
            <a:off x="567877" y="1821436"/>
            <a:ext cx="6402572" cy="739790"/>
          </a:xfrm>
        </p:spPr>
        <p:txBody>
          <a:bodyPr anchor="b">
            <a:normAutofit/>
          </a:bodyPr>
          <a:lstStyle/>
          <a:p>
            <a:r>
              <a:rPr kumimoji="0" lang="en-KE" altLang="en-KE"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r>
              <a:rPr kumimoji="0" lang="en-GB" altLang="en-KE"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ATA </a:t>
            </a:r>
            <a:r>
              <a:rPr lang="en-GB" altLang="en-KE" sz="2800" cap="none" dirty="0">
                <a:latin typeface="Times New Roman" panose="02020603050405020304" pitchFamily="18" charset="0"/>
                <a:cs typeface="Times New Roman" panose="02020603050405020304" pitchFamily="18" charset="0"/>
              </a:rPr>
              <a:t>SOURCES</a:t>
            </a:r>
            <a:endParaRPr kumimoji="0" lang="en-KE" altLang="en-KE"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BB5E8034-0596-B128-2416-82F5378ADA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CC3A642B-114C-C9A6-B88E-DDF6DB42445C}"/>
              </a:ext>
            </a:extLst>
          </p:cNvPr>
          <p:cNvSpPr>
            <a:spLocks noChangeArrowheads="1"/>
          </p:cNvSpPr>
          <p:nvPr/>
        </p:nvSpPr>
        <p:spPr bwMode="auto">
          <a:xfrm>
            <a:off x="567877" y="1901647"/>
            <a:ext cx="11486147" cy="2872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GB" altLang="en-KE"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KE" sz="1800" b="0" i="0" u="none" strike="noStrike" cap="none" normalizeH="0" baseline="0" dirty="0">
                <a:ln>
                  <a:noFill/>
                </a:ln>
                <a:solidFill>
                  <a:schemeClr val="tx1"/>
                </a:solidFill>
                <a:effectLst/>
                <a:latin typeface="Arial" panose="020B0604020202020204" pitchFamily="34" charset="0"/>
              </a:rPr>
              <a:t>Africa Energy Infrastructure Dataset (March 2025 Release) – oil &amp; gas pipelines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KE" sz="1800" b="0" i="0" u="none" strike="noStrike" cap="none" normalizeH="0" baseline="0" dirty="0">
                <a:ln>
                  <a:noFill/>
                </a:ln>
                <a:solidFill>
                  <a:schemeClr val="tx1"/>
                </a:solidFill>
                <a:effectLst/>
                <a:latin typeface="Arial" panose="020B0604020202020204" pitchFamily="34" charset="0"/>
              </a:rPr>
              <a:t>WDPA (World Database on Protected Areas) – protected zones and parks</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KE" sz="1800" b="0" i="0" u="none" strike="noStrike" cap="none" normalizeH="0" baseline="0" dirty="0">
                <a:ln>
                  <a:noFill/>
                </a:ln>
                <a:solidFill>
                  <a:schemeClr val="tx1"/>
                </a:solidFill>
                <a:effectLst/>
                <a:latin typeface="Arial" panose="020B0604020202020204" pitchFamily="34" charset="0"/>
              </a:rPr>
              <a:t>Natural Earth – rivers and lakes shapefiles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KE" sz="1800" b="0" i="0" u="none" strike="noStrike" cap="none" normalizeH="0" baseline="0" dirty="0">
                <a:ln>
                  <a:noFill/>
                </a:ln>
                <a:solidFill>
                  <a:schemeClr val="tx1"/>
                </a:solidFill>
                <a:effectLst/>
                <a:latin typeface="Arial" panose="020B0604020202020204" pitchFamily="34" charset="0"/>
              </a:rPr>
              <a:t>OpenStreetMap – geographic features and terrain overlays</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KE" sz="1800" b="0" i="0" u="none" strike="noStrike" cap="none" normalizeH="0" baseline="0" dirty="0">
                <a:ln>
                  <a:noFill/>
                </a:ln>
                <a:solidFill>
                  <a:schemeClr val="tx1"/>
                </a:solidFill>
                <a:effectLst/>
                <a:latin typeface="Arial" panose="020B0604020202020204" pitchFamily="34" charset="0"/>
              </a:rPr>
              <a:t>NASA Earthdata – NDVI, landcover, and satellite imagery</a:t>
            </a:r>
          </a:p>
          <a:p>
            <a:pPr marL="0" marR="0" lvl="0" indent="0" algn="l" defTabSz="914400" rtl="0" eaLnBrk="0" fontAlgn="base" latinLnBrk="0" hangingPunct="0">
              <a:lnSpc>
                <a:spcPct val="150000"/>
              </a:lnSpc>
              <a:spcBef>
                <a:spcPct val="0"/>
              </a:spcBef>
              <a:spcAft>
                <a:spcPct val="0"/>
              </a:spcAft>
              <a:buClrTx/>
              <a:buSzTx/>
              <a:buFontTx/>
              <a:buNone/>
              <a:tabLst/>
            </a:pPr>
            <a:r>
              <a:rPr kumimoji="0" lang="en-GB" altLang="en-KE" sz="1800" b="0" i="0" u="none" strike="noStrike" cap="none" normalizeH="0" baseline="0" dirty="0">
                <a:ln>
                  <a:noFill/>
                </a:ln>
                <a:solidFill>
                  <a:schemeClr val="tx1"/>
                </a:solidFill>
                <a:effectLst/>
                <a:latin typeface="Arial" panose="020B0604020202020204" pitchFamily="34" charset="0"/>
              </a:rPr>
              <a:t>Global Energy Monitor – supplemental pipeline and project metadata</a:t>
            </a:r>
            <a:endParaRPr lang="en-GB" altLang="en-KE" dirty="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GB" altLang="en-KE" dirty="0">
                <a:latin typeface="Arial" panose="020B0604020202020204" pitchFamily="34" charset="0"/>
              </a:rPr>
              <a:t>Regional Centre For Mapping Of Resources For Development (RCMRD)</a:t>
            </a:r>
            <a:endParaRPr kumimoji="0" lang="en-KE" altLang="en-KE"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6DD38E61-231B-4983-C180-9D3CA3B53866}"/>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
        <p:nvSpPr>
          <p:cNvPr id="5" name="Rectangle 3">
            <a:extLst>
              <a:ext uri="{FF2B5EF4-FFF2-40B4-BE49-F238E27FC236}">
                <a16:creationId xmlns:a16="http://schemas.microsoft.com/office/drawing/2014/main" id="{61F2AC14-E5FB-1B82-FAE2-819E4D8FD4EF}"/>
              </a:ext>
            </a:extLst>
          </p:cNvPr>
          <p:cNvSpPr>
            <a:spLocks noChangeArrowheads="1"/>
          </p:cNvSpPr>
          <p:nvPr/>
        </p:nvSpPr>
        <p:spPr bwMode="auto">
          <a:xfrm>
            <a:off x="0" y="4730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KE" altLang="en-KE" sz="16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KE" altLang="en-KE"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866257"/>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D0ED5E48-D856-76BF-9D22-39C66C024F6B}"/>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483F9D5-B68A-228C-001C-6F9D73A37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85C0E630-074D-D2FD-4BE6-4D20604E5F45}"/>
              </a:ext>
            </a:extLst>
          </p:cNvPr>
          <p:cNvPicPr>
            <a:picLocks noChangeAspect="1"/>
          </p:cNvPicPr>
          <p:nvPr/>
        </p:nvPicPr>
        <p:blipFill>
          <a:blip r:embed="rId2">
            <a:alphaModFix amt="20000"/>
          </a:blip>
          <a:srcRect t="20113" b="4888"/>
          <a:stretch/>
        </p:blipFill>
        <p:spPr>
          <a:xfrm>
            <a:off x="-406"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796F6D47-9A95-7E48-36D4-DD272529D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55FCFC1E-C886-117B-6922-AE12B5771B9B}"/>
              </a:ext>
            </a:extLst>
          </p:cNvPr>
          <p:cNvSpPr>
            <a:spLocks noGrp="1"/>
          </p:cNvSpPr>
          <p:nvPr>
            <p:ph type="ctrTitle"/>
          </p:nvPr>
        </p:nvSpPr>
        <p:spPr>
          <a:xfrm>
            <a:off x="568285" y="1949554"/>
            <a:ext cx="11054615" cy="2696866"/>
          </a:xfrm>
        </p:spPr>
        <p:txBody>
          <a:bodyPr anchor="t">
            <a:noAutofit/>
          </a:bodyPr>
          <a:lstStyle/>
          <a:p>
            <a:pPr>
              <a:lnSpc>
                <a:spcPct val="150000"/>
              </a:lnSpc>
            </a:pPr>
            <a:br>
              <a:rPr kumimoji="0" lang="en-US" sz="2000" b="1"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Using Python and GeoPandas</a:t>
            </a:r>
            <a:r>
              <a:rPr lang="en-US" sz="2000" b="0" dirty="0">
                <a:solidFill>
                  <a:srgbClr val="FFFFFF"/>
                </a:solidFill>
                <a:latin typeface="Times New Roman" panose="02020603050405020304" pitchFamily="18" charset="0"/>
                <a:cs typeface="Times New Roman" panose="02020603050405020304" pitchFamily="18" charset="0"/>
              </a:rPr>
              <a:t> it</a:t>
            </a: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a:t>
            </a:r>
            <a:b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Convert geometry </a:t>
            </a:r>
            <a:r>
              <a:rPr lang="en-US" sz="2000" b="0" dirty="0">
                <a:solidFill>
                  <a:srgbClr val="FFFFFF"/>
                </a:solidFill>
                <a:latin typeface="Times New Roman" panose="02020603050405020304" pitchFamily="18" charset="0"/>
                <a:cs typeface="Times New Roman" panose="02020603050405020304" pitchFamily="18" charset="0"/>
              </a:rPr>
              <a:t>line</a:t>
            </a: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string into pipeline lengths</a:t>
            </a:r>
            <a:b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Calculate proximity to water bodies and protected areas</a:t>
            </a:r>
            <a:b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Extract GPS point sequences from geometry for </a:t>
            </a:r>
            <a:r>
              <a:rPr lang="en-US" sz="2000" b="0" dirty="0">
                <a:solidFill>
                  <a:srgbClr val="FFFFFF"/>
                </a:solidFill>
                <a:latin typeface="Times New Roman" panose="02020603050405020304" pitchFamily="18" charset="0"/>
                <a:cs typeface="Times New Roman" panose="02020603050405020304" pitchFamily="18" charset="0"/>
              </a:rPr>
              <a:t>RL</a:t>
            </a: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 modeling</a:t>
            </a:r>
            <a:b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Label pipelines as high/low environmental risk based on rules (e.g., length, proximity)</a:t>
            </a:r>
            <a:b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br>
            <a:r>
              <a:rPr kumimoji="0" lang="en-US" sz="20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Encode categorical attributes (route type) and normalize numerical ones</a:t>
            </a:r>
            <a:endParaRPr lang="en-KE" sz="2000" b="0" dirty="0">
              <a:solidFill>
                <a:srgbClr val="FFFFFF"/>
              </a:solidFill>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38383BC7-BCE5-051F-2687-4B746C2DF3D4}"/>
              </a:ext>
            </a:extLst>
          </p:cNvPr>
          <p:cNvSpPr>
            <a:spLocks noGrp="1"/>
          </p:cNvSpPr>
          <p:nvPr>
            <p:ph type="subTitle" idx="1"/>
          </p:nvPr>
        </p:nvSpPr>
        <p:spPr>
          <a:xfrm>
            <a:off x="568285" y="533330"/>
            <a:ext cx="6402572" cy="1287887"/>
          </a:xfrm>
        </p:spPr>
        <p:txBody>
          <a:bodyPr anchor="b">
            <a:normAutofit/>
          </a:bodyPr>
          <a:lstStyle/>
          <a:p>
            <a:r>
              <a:rPr lang="en-GB" sz="2800" dirty="0">
                <a:solidFill>
                  <a:srgbClr val="FFFFFF"/>
                </a:solidFill>
                <a:latin typeface="Times New Roman" panose="02020603050405020304" pitchFamily="18" charset="0"/>
                <a:cs typeface="Times New Roman" panose="02020603050405020304" pitchFamily="18" charset="0"/>
              </a:rPr>
              <a:t>Data Preparation</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F598DF00-D42A-7B42-A69D-C57B93DCBB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0760492"/>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68" descr="Oil refinery against blue sky">
            <a:extLst>
              <a:ext uri="{FF2B5EF4-FFF2-40B4-BE49-F238E27FC236}">
                <a16:creationId xmlns:a16="http://schemas.microsoft.com/office/drawing/2014/main" id="{684751BE-FC04-DF50-08D2-4435399B5ACD}"/>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Pipe">
            <a:extLst>
              <a:ext uri="{FF2B5EF4-FFF2-40B4-BE49-F238E27FC236}">
                <a16:creationId xmlns:a16="http://schemas.microsoft.com/office/drawing/2014/main" id="{C819CA9F-5FC8-C6B5-6F3F-905714A9F37A}"/>
              </a:ext>
            </a:extLst>
          </p:cNvPr>
          <p:cNvSpPr/>
          <p:nvPr/>
        </p:nvSpPr>
        <p:spPr>
          <a:xfrm rot="5400000">
            <a:off x="3831427" y="-1984496"/>
            <a:ext cx="4439937" cy="10826991"/>
          </a:xfrm>
          <a:custGeom>
            <a:avLst/>
            <a:gdLst>
              <a:gd name="connsiteX0" fmla="*/ 0 w 4439937"/>
              <a:gd name="connsiteY0" fmla="*/ 10826991 h 10826991"/>
              <a:gd name="connsiteX1" fmla="*/ 0 w 4439937"/>
              <a:gd name="connsiteY1" fmla="*/ 9907104 h 10826991"/>
              <a:gd name="connsiteX2" fmla="*/ 2629937 w 4439937"/>
              <a:gd name="connsiteY2" fmla="*/ 9907104 h 10826991"/>
              <a:gd name="connsiteX3" fmla="*/ 2629937 w 4439937"/>
              <a:gd name="connsiteY3" fmla="*/ 9912713 h 10826991"/>
              <a:gd name="connsiteX4" fmla="*/ 2629938 w 4439937"/>
              <a:gd name="connsiteY4" fmla="*/ 9912713 h 10826991"/>
              <a:gd name="connsiteX5" fmla="*/ 3520299 w 4439937"/>
              <a:gd name="connsiteY5" fmla="*/ 9137908 h 10826991"/>
              <a:gd name="connsiteX6" fmla="*/ 3523935 w 4439937"/>
              <a:gd name="connsiteY6" fmla="*/ 9099398 h 10826991"/>
              <a:gd name="connsiteX7" fmla="*/ 3525536 w 4439937"/>
              <a:gd name="connsiteY7" fmla="*/ 9099398 h 10826991"/>
              <a:gd name="connsiteX8" fmla="*/ 3525536 w 4439937"/>
              <a:gd name="connsiteY8" fmla="*/ 0 h 10826991"/>
              <a:gd name="connsiteX9" fmla="*/ 4439936 w 4439937"/>
              <a:gd name="connsiteY9" fmla="*/ 0 h 10826991"/>
              <a:gd name="connsiteX10" fmla="*/ 4439936 w 4439937"/>
              <a:gd name="connsiteY10" fmla="*/ 9099398 h 10826991"/>
              <a:gd name="connsiteX11" fmla="*/ 4439937 w 4439937"/>
              <a:gd name="connsiteY11" fmla="*/ 9099398 h 10826991"/>
              <a:gd name="connsiteX12" fmla="*/ 4438202 w 4439937"/>
              <a:gd name="connsiteY12" fmla="*/ 9135039 h 10826991"/>
              <a:gd name="connsiteX13" fmla="*/ 2629937 w 4439937"/>
              <a:gd name="connsiteY13" fmla="*/ 10826991 h 1082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39937" h="10826991">
                <a:moveTo>
                  <a:pt x="0" y="10826991"/>
                </a:moveTo>
                <a:lnTo>
                  <a:pt x="0" y="9907104"/>
                </a:lnTo>
                <a:lnTo>
                  <a:pt x="2629937" y="9907104"/>
                </a:lnTo>
                <a:lnTo>
                  <a:pt x="2629937" y="9912713"/>
                </a:lnTo>
                <a:lnTo>
                  <a:pt x="2629938" y="9912713"/>
                </a:lnTo>
                <a:cubicBezTo>
                  <a:pt x="3069127" y="9912713"/>
                  <a:pt x="3435555" y="9580088"/>
                  <a:pt x="3520299" y="9137908"/>
                </a:cubicBezTo>
                <a:lnTo>
                  <a:pt x="3523935" y="9099398"/>
                </a:lnTo>
                <a:lnTo>
                  <a:pt x="3525536" y="9099398"/>
                </a:lnTo>
                <a:lnTo>
                  <a:pt x="3525536" y="0"/>
                </a:lnTo>
                <a:lnTo>
                  <a:pt x="4439936" y="0"/>
                </a:lnTo>
                <a:lnTo>
                  <a:pt x="4439936" y="9099398"/>
                </a:lnTo>
                <a:lnTo>
                  <a:pt x="4439937" y="9099398"/>
                </a:lnTo>
                <a:lnTo>
                  <a:pt x="4438202" y="9135039"/>
                </a:lnTo>
                <a:cubicBezTo>
                  <a:pt x="4345120" y="10085383"/>
                  <a:pt x="3571056" y="10826991"/>
                  <a:pt x="2629937" y="10826991"/>
                </a:cubicBezTo>
                <a:close/>
              </a:path>
            </a:pathLst>
          </a:custGeom>
          <a:solidFill>
            <a:schemeClr val="tx1">
              <a:lumMod val="50000"/>
              <a:lumOff val="50000"/>
            </a:schemeClr>
          </a:solidFill>
          <a:ln w="28575">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KE" dirty="0">
              <a:solidFill>
                <a:schemeClr val="tx1"/>
              </a:solidFill>
            </a:endParaRPr>
          </a:p>
        </p:txBody>
      </p:sp>
      <p:grpSp>
        <p:nvGrpSpPr>
          <p:cNvPr id="19" name="Arrow">
            <a:extLst>
              <a:ext uri="{FF2B5EF4-FFF2-40B4-BE49-F238E27FC236}">
                <a16:creationId xmlns:a16="http://schemas.microsoft.com/office/drawing/2014/main" id="{E1794114-C6E2-CF33-9F48-3BDA4B98A7BD}"/>
              </a:ext>
            </a:extLst>
          </p:cNvPr>
          <p:cNvGrpSpPr/>
          <p:nvPr/>
        </p:nvGrpSpPr>
        <p:grpSpPr>
          <a:xfrm>
            <a:off x="852144" y="838895"/>
            <a:ext cx="416313" cy="370136"/>
            <a:chOff x="4988666" y="2292904"/>
            <a:chExt cx="416313" cy="516615"/>
          </a:xfrm>
          <a:solidFill>
            <a:schemeClr val="tx1">
              <a:lumMod val="95000"/>
              <a:lumOff val="5000"/>
            </a:schemeClr>
          </a:solidFill>
        </p:grpSpPr>
        <p:sp>
          <p:nvSpPr>
            <p:cNvPr id="14" name="Isosceles Triangle 13">
              <a:extLst>
                <a:ext uri="{FF2B5EF4-FFF2-40B4-BE49-F238E27FC236}">
                  <a16:creationId xmlns:a16="http://schemas.microsoft.com/office/drawing/2014/main" id="{F852F447-4BDF-3FAC-6CC2-11B3CC1D8383}"/>
                </a:ext>
              </a:extLst>
            </p:cNvPr>
            <p:cNvSpPr/>
            <p:nvPr/>
          </p:nvSpPr>
          <p:spPr>
            <a:xfrm flipV="1">
              <a:off x="5025837" y="2434684"/>
              <a:ext cx="379142" cy="37483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cxnSp>
          <p:nvCxnSpPr>
            <p:cNvPr id="16" name="Straight Connector 15">
              <a:extLst>
                <a:ext uri="{FF2B5EF4-FFF2-40B4-BE49-F238E27FC236}">
                  <a16:creationId xmlns:a16="http://schemas.microsoft.com/office/drawing/2014/main" id="{9744198C-5A27-94A9-1173-6A9C5F91C092}"/>
                </a:ext>
              </a:extLst>
            </p:cNvPr>
            <p:cNvCxnSpPr/>
            <p:nvPr/>
          </p:nvCxnSpPr>
          <p:spPr>
            <a:xfrm>
              <a:off x="5025837" y="2401761"/>
              <a:ext cx="379142" cy="0"/>
            </a:xfrm>
            <a:prstGeom prst="line">
              <a:avLst/>
            </a:prstGeom>
            <a:grpFill/>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3161EE5-B58F-55F0-0F4B-C8FACA6E94D7}"/>
                </a:ext>
              </a:extLst>
            </p:cNvPr>
            <p:cNvCxnSpPr>
              <a:cxnSpLocks/>
            </p:cNvCxnSpPr>
            <p:nvPr/>
          </p:nvCxnSpPr>
          <p:spPr>
            <a:xfrm>
              <a:off x="4988666" y="2292904"/>
              <a:ext cx="416313" cy="0"/>
            </a:xfrm>
            <a:prstGeom prst="line">
              <a:avLst/>
            </a:prstGeom>
            <a:grpFill/>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20" name="Arrow">
            <a:extLst>
              <a:ext uri="{FF2B5EF4-FFF2-40B4-BE49-F238E27FC236}">
                <a16:creationId xmlns:a16="http://schemas.microsoft.com/office/drawing/2014/main" id="{7E839314-4183-2091-D94F-4A601D29320B}"/>
              </a:ext>
            </a:extLst>
          </p:cNvPr>
          <p:cNvGrpSpPr/>
          <p:nvPr/>
        </p:nvGrpSpPr>
        <p:grpSpPr>
          <a:xfrm rot="16200000">
            <a:off x="2018921" y="5065819"/>
            <a:ext cx="451287" cy="292080"/>
            <a:chOff x="4988666" y="2292904"/>
            <a:chExt cx="416313" cy="454013"/>
          </a:xfrm>
          <a:solidFill>
            <a:schemeClr val="tx1">
              <a:lumMod val="95000"/>
              <a:lumOff val="5000"/>
            </a:schemeClr>
          </a:solidFill>
        </p:grpSpPr>
        <p:sp>
          <p:nvSpPr>
            <p:cNvPr id="21" name="Isosceles Triangle 20">
              <a:extLst>
                <a:ext uri="{FF2B5EF4-FFF2-40B4-BE49-F238E27FC236}">
                  <a16:creationId xmlns:a16="http://schemas.microsoft.com/office/drawing/2014/main" id="{DAEF8E86-CCB3-625B-E6B1-C98A99169333}"/>
                </a:ext>
              </a:extLst>
            </p:cNvPr>
            <p:cNvSpPr/>
            <p:nvPr/>
          </p:nvSpPr>
          <p:spPr>
            <a:xfrm flipV="1">
              <a:off x="5025837" y="2434683"/>
              <a:ext cx="379142" cy="312234"/>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cxnSp>
          <p:nvCxnSpPr>
            <p:cNvPr id="22" name="Straight Connector 21">
              <a:extLst>
                <a:ext uri="{FF2B5EF4-FFF2-40B4-BE49-F238E27FC236}">
                  <a16:creationId xmlns:a16="http://schemas.microsoft.com/office/drawing/2014/main" id="{8770DB40-38CC-CC97-DCE0-29A737AD9147}"/>
                </a:ext>
              </a:extLst>
            </p:cNvPr>
            <p:cNvCxnSpPr/>
            <p:nvPr/>
          </p:nvCxnSpPr>
          <p:spPr>
            <a:xfrm>
              <a:off x="5025837" y="2401761"/>
              <a:ext cx="379142" cy="0"/>
            </a:xfrm>
            <a:prstGeom prst="line">
              <a:avLst/>
            </a:prstGeom>
            <a:grpFill/>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BC41C47-D5C9-0C49-CA02-E2FBAC7EF1C7}"/>
                </a:ext>
              </a:extLst>
            </p:cNvPr>
            <p:cNvCxnSpPr>
              <a:cxnSpLocks/>
            </p:cNvCxnSpPr>
            <p:nvPr/>
          </p:nvCxnSpPr>
          <p:spPr>
            <a:xfrm>
              <a:off x="4988666" y="2292904"/>
              <a:ext cx="416313" cy="0"/>
            </a:xfrm>
            <a:prstGeom prst="line">
              <a:avLst/>
            </a:prstGeom>
            <a:grpFill/>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24" name="Arrow">
            <a:extLst>
              <a:ext uri="{FF2B5EF4-FFF2-40B4-BE49-F238E27FC236}">
                <a16:creationId xmlns:a16="http://schemas.microsoft.com/office/drawing/2014/main" id="{648B7528-D94E-1501-8C59-D32848ADBEFC}"/>
              </a:ext>
            </a:extLst>
          </p:cNvPr>
          <p:cNvGrpSpPr/>
          <p:nvPr/>
        </p:nvGrpSpPr>
        <p:grpSpPr>
          <a:xfrm>
            <a:off x="875559" y="3429001"/>
            <a:ext cx="416313" cy="312234"/>
            <a:chOff x="4988666" y="2292904"/>
            <a:chExt cx="416313" cy="454013"/>
          </a:xfrm>
          <a:solidFill>
            <a:schemeClr val="tx1">
              <a:lumMod val="95000"/>
              <a:lumOff val="5000"/>
            </a:schemeClr>
          </a:solidFill>
        </p:grpSpPr>
        <p:sp>
          <p:nvSpPr>
            <p:cNvPr id="25" name="Isosceles Triangle 24">
              <a:extLst>
                <a:ext uri="{FF2B5EF4-FFF2-40B4-BE49-F238E27FC236}">
                  <a16:creationId xmlns:a16="http://schemas.microsoft.com/office/drawing/2014/main" id="{22105F44-3AD1-E5ED-CF48-101DACCB85ED}"/>
                </a:ext>
              </a:extLst>
            </p:cNvPr>
            <p:cNvSpPr/>
            <p:nvPr/>
          </p:nvSpPr>
          <p:spPr>
            <a:xfrm flipV="1">
              <a:off x="5025837" y="2434683"/>
              <a:ext cx="379142" cy="312234"/>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cxnSp>
          <p:nvCxnSpPr>
            <p:cNvPr id="26" name="Straight Connector 25">
              <a:extLst>
                <a:ext uri="{FF2B5EF4-FFF2-40B4-BE49-F238E27FC236}">
                  <a16:creationId xmlns:a16="http://schemas.microsoft.com/office/drawing/2014/main" id="{3A26AD53-B1BB-254B-71EC-20A9EA6E16C4}"/>
                </a:ext>
              </a:extLst>
            </p:cNvPr>
            <p:cNvCxnSpPr/>
            <p:nvPr/>
          </p:nvCxnSpPr>
          <p:spPr>
            <a:xfrm>
              <a:off x="5025837" y="2401761"/>
              <a:ext cx="379142" cy="0"/>
            </a:xfrm>
            <a:prstGeom prst="line">
              <a:avLst/>
            </a:prstGeom>
            <a:grpFill/>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7D91EE-002F-A1C4-81C5-D16A5D11AA2C}"/>
                </a:ext>
              </a:extLst>
            </p:cNvPr>
            <p:cNvCxnSpPr>
              <a:cxnSpLocks/>
            </p:cNvCxnSpPr>
            <p:nvPr/>
          </p:nvCxnSpPr>
          <p:spPr>
            <a:xfrm>
              <a:off x="4988666" y="2292904"/>
              <a:ext cx="416313" cy="0"/>
            </a:xfrm>
            <a:prstGeom prst="line">
              <a:avLst/>
            </a:prstGeom>
            <a:grpFill/>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28" name="Arrow">
            <a:extLst>
              <a:ext uri="{FF2B5EF4-FFF2-40B4-BE49-F238E27FC236}">
                <a16:creationId xmlns:a16="http://schemas.microsoft.com/office/drawing/2014/main" id="{36A8F757-4E1E-08AD-E7CA-0D78C75944C0}"/>
              </a:ext>
            </a:extLst>
          </p:cNvPr>
          <p:cNvGrpSpPr/>
          <p:nvPr/>
        </p:nvGrpSpPr>
        <p:grpSpPr>
          <a:xfrm>
            <a:off x="870730" y="2092010"/>
            <a:ext cx="379143" cy="312234"/>
            <a:chOff x="4988666" y="2292904"/>
            <a:chExt cx="416313" cy="454013"/>
          </a:xfrm>
          <a:solidFill>
            <a:schemeClr val="tx1">
              <a:lumMod val="95000"/>
              <a:lumOff val="5000"/>
            </a:schemeClr>
          </a:solidFill>
        </p:grpSpPr>
        <p:sp>
          <p:nvSpPr>
            <p:cNvPr id="29" name="Isosceles Triangle 28">
              <a:extLst>
                <a:ext uri="{FF2B5EF4-FFF2-40B4-BE49-F238E27FC236}">
                  <a16:creationId xmlns:a16="http://schemas.microsoft.com/office/drawing/2014/main" id="{604C4AF5-1425-95E9-704C-3665277CA0C3}"/>
                </a:ext>
              </a:extLst>
            </p:cNvPr>
            <p:cNvSpPr/>
            <p:nvPr/>
          </p:nvSpPr>
          <p:spPr>
            <a:xfrm flipV="1">
              <a:off x="5025837" y="2434683"/>
              <a:ext cx="379142" cy="312234"/>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cxnSp>
          <p:nvCxnSpPr>
            <p:cNvPr id="30" name="Straight Connector 29">
              <a:extLst>
                <a:ext uri="{FF2B5EF4-FFF2-40B4-BE49-F238E27FC236}">
                  <a16:creationId xmlns:a16="http://schemas.microsoft.com/office/drawing/2014/main" id="{3FCC64E2-CBD9-D2FC-2DF0-42E1979FA4CF}"/>
                </a:ext>
              </a:extLst>
            </p:cNvPr>
            <p:cNvCxnSpPr/>
            <p:nvPr/>
          </p:nvCxnSpPr>
          <p:spPr>
            <a:xfrm>
              <a:off x="5025837" y="2401761"/>
              <a:ext cx="379142" cy="0"/>
            </a:xfrm>
            <a:prstGeom prst="line">
              <a:avLst/>
            </a:prstGeom>
            <a:grpFill/>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D0E28AA-13B4-95A9-D290-48C54731F840}"/>
                </a:ext>
              </a:extLst>
            </p:cNvPr>
            <p:cNvCxnSpPr>
              <a:cxnSpLocks/>
            </p:cNvCxnSpPr>
            <p:nvPr/>
          </p:nvCxnSpPr>
          <p:spPr>
            <a:xfrm>
              <a:off x="4988666" y="2292904"/>
              <a:ext cx="416313" cy="0"/>
            </a:xfrm>
            <a:prstGeom prst="line">
              <a:avLst/>
            </a:prstGeom>
            <a:grpFill/>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2" name="Arrow">
            <a:extLst>
              <a:ext uri="{FF2B5EF4-FFF2-40B4-BE49-F238E27FC236}">
                <a16:creationId xmlns:a16="http://schemas.microsoft.com/office/drawing/2014/main" id="{1C9EE363-FE6F-A26E-22AC-FF168467B411}"/>
              </a:ext>
            </a:extLst>
          </p:cNvPr>
          <p:cNvGrpSpPr/>
          <p:nvPr/>
        </p:nvGrpSpPr>
        <p:grpSpPr>
          <a:xfrm rot="16200000">
            <a:off x="6492876" y="5106116"/>
            <a:ext cx="451287" cy="292080"/>
            <a:chOff x="4988666" y="2292904"/>
            <a:chExt cx="416313" cy="454013"/>
          </a:xfrm>
          <a:solidFill>
            <a:schemeClr val="tx1">
              <a:lumMod val="95000"/>
              <a:lumOff val="5000"/>
            </a:schemeClr>
          </a:solidFill>
        </p:grpSpPr>
        <p:sp>
          <p:nvSpPr>
            <p:cNvPr id="33" name="Isosceles Triangle 32">
              <a:extLst>
                <a:ext uri="{FF2B5EF4-FFF2-40B4-BE49-F238E27FC236}">
                  <a16:creationId xmlns:a16="http://schemas.microsoft.com/office/drawing/2014/main" id="{A28F5909-3A15-4EC5-3AAE-AE0AD9CFCF67}"/>
                </a:ext>
              </a:extLst>
            </p:cNvPr>
            <p:cNvSpPr/>
            <p:nvPr/>
          </p:nvSpPr>
          <p:spPr>
            <a:xfrm flipV="1">
              <a:off x="5025837" y="2434683"/>
              <a:ext cx="379142" cy="312234"/>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cxnSp>
          <p:nvCxnSpPr>
            <p:cNvPr id="34" name="Straight Connector 33">
              <a:extLst>
                <a:ext uri="{FF2B5EF4-FFF2-40B4-BE49-F238E27FC236}">
                  <a16:creationId xmlns:a16="http://schemas.microsoft.com/office/drawing/2014/main" id="{F272B6E1-F4C8-EDE4-37BE-50378F68EB11}"/>
                </a:ext>
              </a:extLst>
            </p:cNvPr>
            <p:cNvCxnSpPr/>
            <p:nvPr/>
          </p:nvCxnSpPr>
          <p:spPr>
            <a:xfrm>
              <a:off x="5025837" y="2401761"/>
              <a:ext cx="379142" cy="0"/>
            </a:xfrm>
            <a:prstGeom prst="line">
              <a:avLst/>
            </a:prstGeom>
            <a:grpFill/>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BF23F37-C92F-71EF-9227-6D73BE373E60}"/>
                </a:ext>
              </a:extLst>
            </p:cNvPr>
            <p:cNvCxnSpPr>
              <a:cxnSpLocks/>
            </p:cNvCxnSpPr>
            <p:nvPr/>
          </p:nvCxnSpPr>
          <p:spPr>
            <a:xfrm>
              <a:off x="4988666" y="2292904"/>
              <a:ext cx="416313" cy="0"/>
            </a:xfrm>
            <a:prstGeom prst="line">
              <a:avLst/>
            </a:prstGeom>
            <a:grpFill/>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6" name="Arrow">
            <a:extLst>
              <a:ext uri="{FF2B5EF4-FFF2-40B4-BE49-F238E27FC236}">
                <a16:creationId xmlns:a16="http://schemas.microsoft.com/office/drawing/2014/main" id="{033FCF1D-1C8B-3F82-2E64-DF843237D712}"/>
              </a:ext>
            </a:extLst>
          </p:cNvPr>
          <p:cNvGrpSpPr/>
          <p:nvPr/>
        </p:nvGrpSpPr>
        <p:grpSpPr>
          <a:xfrm rot="16200000">
            <a:off x="8464796" y="5106116"/>
            <a:ext cx="451287" cy="292080"/>
            <a:chOff x="4988666" y="2292904"/>
            <a:chExt cx="416313" cy="454013"/>
          </a:xfrm>
          <a:solidFill>
            <a:schemeClr val="tx1">
              <a:lumMod val="95000"/>
              <a:lumOff val="5000"/>
            </a:schemeClr>
          </a:solidFill>
        </p:grpSpPr>
        <p:sp>
          <p:nvSpPr>
            <p:cNvPr id="37" name="Isosceles Triangle 36">
              <a:extLst>
                <a:ext uri="{FF2B5EF4-FFF2-40B4-BE49-F238E27FC236}">
                  <a16:creationId xmlns:a16="http://schemas.microsoft.com/office/drawing/2014/main" id="{39BF3130-D4B1-6342-FC07-3B1346C5C106}"/>
                </a:ext>
              </a:extLst>
            </p:cNvPr>
            <p:cNvSpPr/>
            <p:nvPr/>
          </p:nvSpPr>
          <p:spPr>
            <a:xfrm flipV="1">
              <a:off x="5025837" y="2434683"/>
              <a:ext cx="379142" cy="312234"/>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cxnSp>
          <p:nvCxnSpPr>
            <p:cNvPr id="38" name="Straight Connector 37">
              <a:extLst>
                <a:ext uri="{FF2B5EF4-FFF2-40B4-BE49-F238E27FC236}">
                  <a16:creationId xmlns:a16="http://schemas.microsoft.com/office/drawing/2014/main" id="{54F963DF-C9CE-74DE-A9EF-FCA35DD6A826}"/>
                </a:ext>
              </a:extLst>
            </p:cNvPr>
            <p:cNvCxnSpPr/>
            <p:nvPr/>
          </p:nvCxnSpPr>
          <p:spPr>
            <a:xfrm>
              <a:off x="5025837" y="2401761"/>
              <a:ext cx="379142" cy="0"/>
            </a:xfrm>
            <a:prstGeom prst="line">
              <a:avLst/>
            </a:prstGeom>
            <a:grpFill/>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66093FB-2A2C-A319-A0BF-1CE464C57A3D}"/>
                </a:ext>
              </a:extLst>
            </p:cNvPr>
            <p:cNvCxnSpPr>
              <a:cxnSpLocks/>
            </p:cNvCxnSpPr>
            <p:nvPr/>
          </p:nvCxnSpPr>
          <p:spPr>
            <a:xfrm>
              <a:off x="4988666" y="2292904"/>
              <a:ext cx="416313" cy="0"/>
            </a:xfrm>
            <a:prstGeom prst="line">
              <a:avLst/>
            </a:prstGeom>
            <a:grpFill/>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40" name="Arrow">
            <a:extLst>
              <a:ext uri="{FF2B5EF4-FFF2-40B4-BE49-F238E27FC236}">
                <a16:creationId xmlns:a16="http://schemas.microsoft.com/office/drawing/2014/main" id="{E01323F6-113D-8E8F-372A-551F35D59C0F}"/>
              </a:ext>
            </a:extLst>
          </p:cNvPr>
          <p:cNvGrpSpPr/>
          <p:nvPr/>
        </p:nvGrpSpPr>
        <p:grpSpPr>
          <a:xfrm rot="16200000">
            <a:off x="10531267" y="5106114"/>
            <a:ext cx="451289" cy="292080"/>
            <a:chOff x="4988666" y="2292904"/>
            <a:chExt cx="416315" cy="454013"/>
          </a:xfrm>
          <a:solidFill>
            <a:schemeClr val="tx1">
              <a:lumMod val="95000"/>
              <a:lumOff val="5000"/>
            </a:schemeClr>
          </a:solidFill>
        </p:grpSpPr>
        <p:sp>
          <p:nvSpPr>
            <p:cNvPr id="41" name="Isosceles Triangle 40">
              <a:extLst>
                <a:ext uri="{FF2B5EF4-FFF2-40B4-BE49-F238E27FC236}">
                  <a16:creationId xmlns:a16="http://schemas.microsoft.com/office/drawing/2014/main" id="{EB1319F2-F29B-73E1-35CB-55F5DC412388}"/>
                </a:ext>
              </a:extLst>
            </p:cNvPr>
            <p:cNvSpPr/>
            <p:nvPr/>
          </p:nvSpPr>
          <p:spPr>
            <a:xfrm flipV="1">
              <a:off x="5025837" y="2434683"/>
              <a:ext cx="379142" cy="312234"/>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cxnSp>
          <p:nvCxnSpPr>
            <p:cNvPr id="42" name="Straight Connector 41">
              <a:extLst>
                <a:ext uri="{FF2B5EF4-FFF2-40B4-BE49-F238E27FC236}">
                  <a16:creationId xmlns:a16="http://schemas.microsoft.com/office/drawing/2014/main" id="{B248E70A-A08A-CDFA-81FC-9F60F9919B59}"/>
                </a:ext>
              </a:extLst>
            </p:cNvPr>
            <p:cNvCxnSpPr/>
            <p:nvPr/>
          </p:nvCxnSpPr>
          <p:spPr>
            <a:xfrm>
              <a:off x="5025839" y="2401761"/>
              <a:ext cx="379142" cy="0"/>
            </a:xfrm>
            <a:prstGeom prst="line">
              <a:avLst/>
            </a:prstGeom>
            <a:grpFill/>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CF4E43E-E3CF-2A9E-4E34-4EE0A7D842E0}"/>
                </a:ext>
              </a:extLst>
            </p:cNvPr>
            <p:cNvCxnSpPr>
              <a:cxnSpLocks/>
            </p:cNvCxnSpPr>
            <p:nvPr/>
          </p:nvCxnSpPr>
          <p:spPr>
            <a:xfrm>
              <a:off x="4988666" y="2292904"/>
              <a:ext cx="416313" cy="0"/>
            </a:xfrm>
            <a:prstGeom prst="line">
              <a:avLst/>
            </a:prstGeom>
            <a:grpFill/>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44" name="Arrow">
            <a:extLst>
              <a:ext uri="{FF2B5EF4-FFF2-40B4-BE49-F238E27FC236}">
                <a16:creationId xmlns:a16="http://schemas.microsoft.com/office/drawing/2014/main" id="{D6359EB0-51CE-5291-7B65-3636791E5391}"/>
              </a:ext>
            </a:extLst>
          </p:cNvPr>
          <p:cNvGrpSpPr/>
          <p:nvPr/>
        </p:nvGrpSpPr>
        <p:grpSpPr>
          <a:xfrm rot="16200000">
            <a:off x="4161401" y="5118421"/>
            <a:ext cx="451287" cy="292080"/>
            <a:chOff x="4988666" y="2292904"/>
            <a:chExt cx="416313" cy="454013"/>
          </a:xfrm>
          <a:solidFill>
            <a:schemeClr val="tx1">
              <a:lumMod val="95000"/>
              <a:lumOff val="5000"/>
            </a:schemeClr>
          </a:solidFill>
        </p:grpSpPr>
        <p:sp>
          <p:nvSpPr>
            <p:cNvPr id="45" name="Isosceles Triangle 44">
              <a:extLst>
                <a:ext uri="{FF2B5EF4-FFF2-40B4-BE49-F238E27FC236}">
                  <a16:creationId xmlns:a16="http://schemas.microsoft.com/office/drawing/2014/main" id="{A123B0ED-B9AB-E9F3-B277-ADE29E22398D}"/>
                </a:ext>
              </a:extLst>
            </p:cNvPr>
            <p:cNvSpPr/>
            <p:nvPr/>
          </p:nvSpPr>
          <p:spPr>
            <a:xfrm flipV="1">
              <a:off x="5025837" y="2434683"/>
              <a:ext cx="379142" cy="312234"/>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cxnSp>
          <p:nvCxnSpPr>
            <p:cNvPr id="46" name="Straight Connector 45">
              <a:extLst>
                <a:ext uri="{FF2B5EF4-FFF2-40B4-BE49-F238E27FC236}">
                  <a16:creationId xmlns:a16="http://schemas.microsoft.com/office/drawing/2014/main" id="{F8BEBFC3-47D8-BF9B-D267-FC1608EE9269}"/>
                </a:ext>
              </a:extLst>
            </p:cNvPr>
            <p:cNvCxnSpPr/>
            <p:nvPr/>
          </p:nvCxnSpPr>
          <p:spPr>
            <a:xfrm>
              <a:off x="5025837" y="2401761"/>
              <a:ext cx="379142" cy="0"/>
            </a:xfrm>
            <a:prstGeom prst="line">
              <a:avLst/>
            </a:prstGeom>
            <a:grpFill/>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45645B1-C3D2-EC51-D645-06639E83794B}"/>
                </a:ext>
              </a:extLst>
            </p:cNvPr>
            <p:cNvCxnSpPr>
              <a:cxnSpLocks/>
            </p:cNvCxnSpPr>
            <p:nvPr/>
          </p:nvCxnSpPr>
          <p:spPr>
            <a:xfrm>
              <a:off x="4988666" y="2292904"/>
              <a:ext cx="416313" cy="0"/>
            </a:xfrm>
            <a:prstGeom prst="line">
              <a:avLst/>
            </a:prstGeom>
            <a:grpFill/>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9" name="Rectangle 48">
            <a:extLst>
              <a:ext uri="{FF2B5EF4-FFF2-40B4-BE49-F238E27FC236}">
                <a16:creationId xmlns:a16="http://schemas.microsoft.com/office/drawing/2014/main" id="{F49BA98B-739D-DE08-95AF-F7763B1FC20E}"/>
              </a:ext>
            </a:extLst>
          </p:cNvPr>
          <p:cNvSpPr/>
          <p:nvPr/>
        </p:nvSpPr>
        <p:spPr>
          <a:xfrm>
            <a:off x="11464892" y="4729730"/>
            <a:ext cx="617180" cy="9192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50" name="Rectangle 49">
            <a:extLst>
              <a:ext uri="{FF2B5EF4-FFF2-40B4-BE49-F238E27FC236}">
                <a16:creationId xmlns:a16="http://schemas.microsoft.com/office/drawing/2014/main" id="{ABB9898A-E8D7-77E6-A418-78F9344CC01E}"/>
              </a:ext>
            </a:extLst>
          </p:cNvPr>
          <p:cNvSpPr/>
          <p:nvPr/>
        </p:nvSpPr>
        <p:spPr>
          <a:xfrm>
            <a:off x="738746" y="524656"/>
            <a:ext cx="727109" cy="6843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dirty="0"/>
          </a:p>
        </p:txBody>
      </p:sp>
      <p:sp>
        <p:nvSpPr>
          <p:cNvPr id="51" name="Arrow: Down 50">
            <a:extLst>
              <a:ext uri="{FF2B5EF4-FFF2-40B4-BE49-F238E27FC236}">
                <a16:creationId xmlns:a16="http://schemas.microsoft.com/office/drawing/2014/main" id="{AC45C357-604E-5AF6-92FB-1601598233E0}"/>
              </a:ext>
            </a:extLst>
          </p:cNvPr>
          <p:cNvSpPr/>
          <p:nvPr/>
        </p:nvSpPr>
        <p:spPr>
          <a:xfrm>
            <a:off x="912730" y="838895"/>
            <a:ext cx="355727" cy="3927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52" name="Arrow: Down 51">
            <a:extLst>
              <a:ext uri="{FF2B5EF4-FFF2-40B4-BE49-F238E27FC236}">
                <a16:creationId xmlns:a16="http://schemas.microsoft.com/office/drawing/2014/main" id="{9B468A27-D0F6-6E55-D02D-897524BC35BA}"/>
              </a:ext>
            </a:extLst>
          </p:cNvPr>
          <p:cNvSpPr/>
          <p:nvPr/>
        </p:nvSpPr>
        <p:spPr>
          <a:xfrm rot="16200000">
            <a:off x="11482634" y="5035619"/>
            <a:ext cx="355727" cy="3927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53" name="Arrow: Down 52">
            <a:extLst>
              <a:ext uri="{FF2B5EF4-FFF2-40B4-BE49-F238E27FC236}">
                <a16:creationId xmlns:a16="http://schemas.microsoft.com/office/drawing/2014/main" id="{C59C64BB-3C0A-C2D4-63E0-2AE2D99D4691}"/>
              </a:ext>
            </a:extLst>
          </p:cNvPr>
          <p:cNvSpPr/>
          <p:nvPr/>
        </p:nvSpPr>
        <p:spPr>
          <a:xfrm>
            <a:off x="2656586" y="4371276"/>
            <a:ext cx="355727" cy="3927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54" name="Arrow: Down 53">
            <a:extLst>
              <a:ext uri="{FF2B5EF4-FFF2-40B4-BE49-F238E27FC236}">
                <a16:creationId xmlns:a16="http://schemas.microsoft.com/office/drawing/2014/main" id="{05643FF1-095A-CCE0-F4CF-A3D86B300F90}"/>
              </a:ext>
            </a:extLst>
          </p:cNvPr>
          <p:cNvSpPr/>
          <p:nvPr/>
        </p:nvSpPr>
        <p:spPr>
          <a:xfrm>
            <a:off x="6331043" y="4371277"/>
            <a:ext cx="355727" cy="3927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55" name="Arrow: Down 54">
            <a:extLst>
              <a:ext uri="{FF2B5EF4-FFF2-40B4-BE49-F238E27FC236}">
                <a16:creationId xmlns:a16="http://schemas.microsoft.com/office/drawing/2014/main" id="{50804E48-810B-89C8-98D4-6D388E63E85A}"/>
              </a:ext>
            </a:extLst>
          </p:cNvPr>
          <p:cNvSpPr/>
          <p:nvPr/>
        </p:nvSpPr>
        <p:spPr>
          <a:xfrm>
            <a:off x="9204867" y="4336958"/>
            <a:ext cx="355727" cy="3927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56" name="TextBox 55">
            <a:extLst>
              <a:ext uri="{FF2B5EF4-FFF2-40B4-BE49-F238E27FC236}">
                <a16:creationId xmlns:a16="http://schemas.microsoft.com/office/drawing/2014/main" id="{356034B2-5C05-AD19-5905-8B0C358EEEC4}"/>
              </a:ext>
            </a:extLst>
          </p:cNvPr>
          <p:cNvSpPr txBox="1"/>
          <p:nvPr/>
        </p:nvSpPr>
        <p:spPr>
          <a:xfrm>
            <a:off x="635744" y="-133622"/>
            <a:ext cx="1228258" cy="707886"/>
          </a:xfrm>
          <a:prstGeom prst="rect">
            <a:avLst/>
          </a:prstGeom>
          <a:noFill/>
        </p:spPr>
        <p:txBody>
          <a:bodyPr wrap="square" rtlCol="0">
            <a:spAutoFit/>
          </a:bodyPr>
          <a:lstStyle/>
          <a:p>
            <a:r>
              <a:rPr lang="en-GB" sz="2000" dirty="0">
                <a:latin typeface="Times New Roman" panose="02020603050405020304" pitchFamily="18" charset="0"/>
                <a:cs typeface="Times New Roman" panose="02020603050405020304" pitchFamily="18" charset="0"/>
              </a:rPr>
              <a:t>Raw Data sources</a:t>
            </a:r>
          </a:p>
        </p:txBody>
      </p:sp>
      <p:sp>
        <p:nvSpPr>
          <p:cNvPr id="60" name="TextBox 59">
            <a:extLst>
              <a:ext uri="{FF2B5EF4-FFF2-40B4-BE49-F238E27FC236}">
                <a16:creationId xmlns:a16="http://schemas.microsoft.com/office/drawing/2014/main" id="{154287C2-2065-200B-F65D-416DD14CEF77}"/>
              </a:ext>
            </a:extLst>
          </p:cNvPr>
          <p:cNvSpPr txBox="1"/>
          <p:nvPr/>
        </p:nvSpPr>
        <p:spPr>
          <a:xfrm>
            <a:off x="1720807" y="3764540"/>
            <a:ext cx="2257191" cy="646331"/>
          </a:xfrm>
          <a:prstGeom prst="rect">
            <a:avLst/>
          </a:prstGeom>
          <a:noFill/>
        </p:spPr>
        <p:txBody>
          <a:bodyPr wrap="square">
            <a:spAutoFit/>
          </a:bodyPr>
          <a:lstStyle/>
          <a:p>
            <a:r>
              <a:rPr lang="en-GB" dirty="0">
                <a:latin typeface="Times New Roman" panose="02020603050405020304" pitchFamily="18" charset="0"/>
                <a:cs typeface="Times New Roman" panose="02020603050405020304" pitchFamily="18" charset="0"/>
              </a:rPr>
              <a:t>Coordinate Reference Systems</a:t>
            </a:r>
          </a:p>
        </p:txBody>
      </p:sp>
      <p:sp>
        <p:nvSpPr>
          <p:cNvPr id="61" name="Arrow: Down 60">
            <a:extLst>
              <a:ext uri="{FF2B5EF4-FFF2-40B4-BE49-F238E27FC236}">
                <a16:creationId xmlns:a16="http://schemas.microsoft.com/office/drawing/2014/main" id="{0E0B9CAB-B790-F5E2-CEB1-E34D9E5FA2FD}"/>
              </a:ext>
            </a:extLst>
          </p:cNvPr>
          <p:cNvSpPr/>
          <p:nvPr/>
        </p:nvSpPr>
        <p:spPr>
          <a:xfrm>
            <a:off x="4318382" y="4360723"/>
            <a:ext cx="355727" cy="3927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63" name="TextBox 62">
            <a:extLst>
              <a:ext uri="{FF2B5EF4-FFF2-40B4-BE49-F238E27FC236}">
                <a16:creationId xmlns:a16="http://schemas.microsoft.com/office/drawing/2014/main" id="{780F98C4-6B3F-6060-2F76-24C95B859FDC}"/>
              </a:ext>
            </a:extLst>
          </p:cNvPr>
          <p:cNvSpPr txBox="1"/>
          <p:nvPr/>
        </p:nvSpPr>
        <p:spPr>
          <a:xfrm>
            <a:off x="3947616" y="3678415"/>
            <a:ext cx="1388004" cy="707886"/>
          </a:xfrm>
          <a:prstGeom prst="rect">
            <a:avLst/>
          </a:prstGeom>
          <a:noFill/>
        </p:spPr>
        <p:txBody>
          <a:bodyPr wrap="square">
            <a:spAutoFit/>
          </a:bodyPr>
          <a:lstStyle/>
          <a:p>
            <a:r>
              <a:rPr lang="en-GB" sz="2000" dirty="0">
                <a:latin typeface="Times New Roman" panose="02020603050405020304" pitchFamily="18" charset="0"/>
                <a:cs typeface="Times New Roman" panose="02020603050405020304" pitchFamily="18" charset="0"/>
              </a:rPr>
              <a:t>Geometric Processing</a:t>
            </a:r>
          </a:p>
        </p:txBody>
      </p:sp>
      <p:sp>
        <p:nvSpPr>
          <p:cNvPr id="65" name="TextBox 64">
            <a:extLst>
              <a:ext uri="{FF2B5EF4-FFF2-40B4-BE49-F238E27FC236}">
                <a16:creationId xmlns:a16="http://schemas.microsoft.com/office/drawing/2014/main" id="{A3D6EAE1-68F9-2CAC-85D1-009B1E40CBF2}"/>
              </a:ext>
            </a:extLst>
          </p:cNvPr>
          <p:cNvSpPr txBox="1"/>
          <p:nvPr/>
        </p:nvSpPr>
        <p:spPr>
          <a:xfrm>
            <a:off x="6051395" y="3678415"/>
            <a:ext cx="2144303" cy="707886"/>
          </a:xfrm>
          <a:prstGeom prst="rect">
            <a:avLst/>
          </a:prstGeom>
          <a:noFill/>
        </p:spPr>
        <p:txBody>
          <a:bodyPr wrap="square">
            <a:spAutoFit/>
          </a:bodyPr>
          <a:lstStyle/>
          <a:p>
            <a:r>
              <a:rPr lang="en-GB" sz="2000" dirty="0">
                <a:latin typeface="Times New Roman" panose="02020603050405020304" pitchFamily="18" charset="0"/>
                <a:cs typeface="Times New Roman" panose="02020603050405020304" pitchFamily="18" charset="0"/>
              </a:rPr>
              <a:t>Feature Engineering</a:t>
            </a:r>
          </a:p>
        </p:txBody>
      </p:sp>
      <p:sp>
        <p:nvSpPr>
          <p:cNvPr id="67" name="TextBox 66">
            <a:extLst>
              <a:ext uri="{FF2B5EF4-FFF2-40B4-BE49-F238E27FC236}">
                <a16:creationId xmlns:a16="http://schemas.microsoft.com/office/drawing/2014/main" id="{5B2B9D1B-8624-0F79-E46F-39C3789AEB87}"/>
              </a:ext>
            </a:extLst>
          </p:cNvPr>
          <p:cNvSpPr txBox="1"/>
          <p:nvPr/>
        </p:nvSpPr>
        <p:spPr>
          <a:xfrm>
            <a:off x="8645686" y="3852891"/>
            <a:ext cx="1627358" cy="400110"/>
          </a:xfrm>
          <a:prstGeom prst="rect">
            <a:avLst/>
          </a:prstGeom>
          <a:noFill/>
        </p:spPr>
        <p:txBody>
          <a:bodyPr wrap="square">
            <a:spAutoFit/>
          </a:bodyPr>
          <a:lstStyle/>
          <a:p>
            <a:r>
              <a:rPr lang="en-GB" sz="2000" dirty="0">
                <a:latin typeface="Times New Roman" panose="02020603050405020304" pitchFamily="18" charset="0"/>
                <a:cs typeface="Times New Roman" panose="02020603050405020304" pitchFamily="18" charset="0"/>
              </a:rPr>
              <a:t>Rasterization</a:t>
            </a:r>
          </a:p>
        </p:txBody>
      </p:sp>
    </p:spTree>
    <p:extLst>
      <p:ext uri="{BB962C8B-B14F-4D97-AF65-F5344CB8AC3E}">
        <p14:creationId xmlns:p14="http://schemas.microsoft.com/office/powerpoint/2010/main" val="262125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repeatCount="indefinite" fill="hold" nodeType="clickEffect">
                                  <p:stCondLst>
                                    <p:cond delay="0"/>
                                  </p:stCondLst>
                                  <p:childTnLst>
                                    <p:animMotion origin="layout" path="M -0.00677 4.44444E-6 L -0.00599 0.17916 " pathEditMode="relative" rAng="0" ptsTypes="AA">
                                      <p:cBhvr>
                                        <p:cTn id="6" dur="600" fill="hold"/>
                                        <p:tgtEl>
                                          <p:spTgt spid="19"/>
                                        </p:tgtEl>
                                        <p:attrNameLst>
                                          <p:attrName>ppt_x</p:attrName>
                                          <p:attrName>ppt_y</p:attrName>
                                        </p:attrNameLst>
                                      </p:cBhvr>
                                      <p:rCtr x="39" y="8958"/>
                                    </p:animMotion>
                                  </p:childTnLst>
                                </p:cTn>
                              </p:par>
                              <p:par>
                                <p:cTn id="7" presetID="42" presetClass="path" presetSubtype="0" repeatCount="indefinite" fill="hold" nodeType="withEffect">
                                  <p:stCondLst>
                                    <p:cond delay="0"/>
                                  </p:stCondLst>
                                  <p:childTnLst>
                                    <p:animMotion origin="layout" path="M -0.00677 2.22222E-6 L -0.00638 0.19398 " pathEditMode="relative" rAng="0" ptsTypes="AA">
                                      <p:cBhvr>
                                        <p:cTn id="8" dur="500" fill="hold"/>
                                        <p:tgtEl>
                                          <p:spTgt spid="28"/>
                                        </p:tgtEl>
                                        <p:attrNameLst>
                                          <p:attrName>ppt_x</p:attrName>
                                          <p:attrName>ppt_y</p:attrName>
                                        </p:attrNameLst>
                                      </p:cBhvr>
                                      <p:rCtr x="13" y="9699"/>
                                    </p:animMotion>
                                  </p:childTnLst>
                                </p:cTn>
                              </p:par>
                              <p:par>
                                <p:cTn id="9" presetID="0" presetClass="path" presetSubtype="0" repeatCount="indefinite" fill="hold" nodeType="withEffect">
                                  <p:stCondLst>
                                    <p:cond delay="0"/>
                                  </p:stCondLst>
                                  <p:childTnLst>
                                    <p:animMotion origin="layout" path="M -0.00677 4.81481E-6 L -0.00677 0.00023 C -0.00442 0.01342 -0.00872 0.05509 -0.00547 0.06782 C -0.0039 0.07708 -0.00247 0.09212 -0.00169 0.10208 C 0.00261 0.12037 0.01224 0.16805 0.01732 0.18495 C 0.02227 0.20208 0.02422 0.1949 0.02852 0.2037 C 0.03008 0.21574 0.03893 0.22361 0.04597 0.22986 C 0.05261 0.23541 0.06133 0.23449 0.06953 0.23541 C 0.07435 0.23773 0.07904 0.23773 0.08503 0.24027 " pathEditMode="relative" rAng="0" ptsTypes="AAAAAAAAA">
                                      <p:cBhvr>
                                        <p:cTn id="10" dur="600" fill="hold"/>
                                        <p:tgtEl>
                                          <p:spTgt spid="24"/>
                                        </p:tgtEl>
                                        <p:attrNameLst>
                                          <p:attrName>ppt_x</p:attrName>
                                          <p:attrName>ppt_y</p:attrName>
                                        </p:attrNameLst>
                                      </p:cBhvr>
                                      <p:rCtr x="4583" y="12014"/>
                                    </p:animMotion>
                                  </p:childTnLst>
                                </p:cTn>
                              </p:par>
                              <p:par>
                                <p:cTn id="11" presetID="8" presetClass="emph" presetSubtype="0" repeatCount="indefinite" fill="hold" nodeType="withEffect">
                                  <p:stCondLst>
                                    <p:cond delay="0"/>
                                  </p:stCondLst>
                                  <p:childTnLst>
                                    <p:animRot by="-5400000">
                                      <p:cBhvr>
                                        <p:cTn id="12" dur="600" fill="hold"/>
                                        <p:tgtEl>
                                          <p:spTgt spid="24"/>
                                        </p:tgtEl>
                                        <p:attrNameLst>
                                          <p:attrName>r</p:attrName>
                                        </p:attrNameLst>
                                      </p:cBhvr>
                                    </p:animRot>
                                  </p:childTnLst>
                                </p:cTn>
                              </p:par>
                              <p:par>
                                <p:cTn id="13" presetID="63" presetClass="path" presetSubtype="0" repeatCount="indefinite" fill="hold" nodeType="withEffect">
                                  <p:stCondLst>
                                    <p:cond delay="0"/>
                                  </p:stCondLst>
                                  <p:childTnLst>
                                    <p:animMotion origin="layout" path="M -0.00677 -7.40741E-7 L 0.15651 -0.00069 " pathEditMode="relative" rAng="0" ptsTypes="AA">
                                      <p:cBhvr>
                                        <p:cTn id="14" dur="600" fill="hold"/>
                                        <p:tgtEl>
                                          <p:spTgt spid="32"/>
                                        </p:tgtEl>
                                        <p:attrNameLst>
                                          <p:attrName>ppt_x</p:attrName>
                                          <p:attrName>ppt_y</p:attrName>
                                        </p:attrNameLst>
                                      </p:cBhvr>
                                      <p:rCtr x="8164" y="-46"/>
                                    </p:animMotion>
                                  </p:childTnLst>
                                </p:cTn>
                              </p:par>
                              <p:par>
                                <p:cTn id="15" presetID="63" presetClass="path" presetSubtype="0" repeatCount="indefinite" fill="hold" nodeType="withEffect">
                                  <p:stCondLst>
                                    <p:cond delay="0"/>
                                  </p:stCondLst>
                                  <p:childTnLst>
                                    <p:animMotion origin="layout" path="M -0.00677 -7.40741E-7 L 0.1625 -0.00301 " pathEditMode="relative" rAng="0" ptsTypes="AA">
                                      <p:cBhvr>
                                        <p:cTn id="16" dur="600" fill="hold"/>
                                        <p:tgtEl>
                                          <p:spTgt spid="36"/>
                                        </p:tgtEl>
                                        <p:attrNameLst>
                                          <p:attrName>ppt_x</p:attrName>
                                          <p:attrName>ppt_y</p:attrName>
                                        </p:attrNameLst>
                                      </p:cBhvr>
                                      <p:rCtr x="8464" y="-162"/>
                                    </p:animMotion>
                                  </p:childTnLst>
                                </p:cTn>
                              </p:par>
                              <p:par>
                                <p:cTn id="17" presetID="63" presetClass="path" presetSubtype="0" repeatCount="indefinite" fill="hold" nodeType="withEffect">
                                  <p:stCondLst>
                                    <p:cond delay="0"/>
                                  </p:stCondLst>
                                  <p:childTnLst>
                                    <p:animMotion origin="layout" path="M -0.00677 -3.7037E-6 L 0.16888 0.00718 " pathEditMode="relative" rAng="0" ptsTypes="AA">
                                      <p:cBhvr>
                                        <p:cTn id="18" dur="600" fill="hold"/>
                                        <p:tgtEl>
                                          <p:spTgt spid="20"/>
                                        </p:tgtEl>
                                        <p:attrNameLst>
                                          <p:attrName>ppt_x</p:attrName>
                                          <p:attrName>ppt_y</p:attrName>
                                        </p:attrNameLst>
                                      </p:cBhvr>
                                      <p:rCtr x="8776" y="347"/>
                                    </p:animMotion>
                                  </p:childTnLst>
                                </p:cTn>
                              </p:par>
                              <p:par>
                                <p:cTn id="19" presetID="63" presetClass="path" presetSubtype="0" repeatCount="indefinite" fill="hold" nodeType="withEffect">
                                  <p:stCondLst>
                                    <p:cond delay="0"/>
                                  </p:stCondLst>
                                  <p:childTnLst>
                                    <p:animMotion origin="layout" path="M -0.00678 -2.59259E-6 L 0.18007 -0.00254 " pathEditMode="relative" rAng="0" ptsTypes="AA">
                                      <p:cBhvr>
                                        <p:cTn id="20" dur="600" fill="hold"/>
                                        <p:tgtEl>
                                          <p:spTgt spid="44"/>
                                        </p:tgtEl>
                                        <p:attrNameLst>
                                          <p:attrName>ppt_x</p:attrName>
                                          <p:attrName>ppt_y</p:attrName>
                                        </p:attrNameLst>
                                      </p:cBhvr>
                                      <p:rCtr x="9336" y="-139"/>
                                    </p:animMotion>
                                  </p:childTnLst>
                                </p:cTn>
                              </p:par>
                            </p:childTnLst>
                          </p:cTn>
                        </p:par>
                      </p:childTnLst>
                    </p:cTn>
                  </p:par>
                  <p:par>
                    <p:cTn id="21" fill="hold">
                      <p:stCondLst>
                        <p:cond delay="indefinite"/>
                      </p:stCondLst>
                      <p:childTnLst>
                        <p:par>
                          <p:cTn id="22" fill="hold">
                            <p:stCondLst>
                              <p:cond delay="0"/>
                            </p:stCondLst>
                            <p:childTnLst>
                              <p:par>
                                <p:cTn id="23" presetID="63" presetClass="path" presetSubtype="0" accel="50000" decel="50000" fill="hold" nodeType="clickEffect">
                                  <p:stCondLst>
                                    <p:cond delay="0"/>
                                  </p:stCondLst>
                                  <p:childTnLst>
                                    <p:animMotion origin="layout" path="M -1.66667E-6 -7.40741E-7 L 0.08633 -0.00185 " pathEditMode="relative" rAng="0" ptsTypes="AA">
                                      <p:cBhvr>
                                        <p:cTn id="24" dur="600" fill="hold"/>
                                        <p:tgtEl>
                                          <p:spTgt spid="40"/>
                                        </p:tgtEl>
                                        <p:attrNameLst>
                                          <p:attrName>ppt_x</p:attrName>
                                          <p:attrName>ppt_y</p:attrName>
                                        </p:attrNameLst>
                                      </p:cBhvr>
                                      <p:rCtr x="4310"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0BDBF1E3-B879-61D7-4D58-FFAB96E6872B}"/>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C42216D4-F704-B68B-AB6D-E9EB885CE3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37B19963-C9B8-B5FB-F2DA-D8D78DDBFF2A}"/>
              </a:ext>
            </a:extLst>
          </p:cNvPr>
          <p:cNvPicPr>
            <a:picLocks noChangeAspect="1"/>
          </p:cNvPicPr>
          <p:nvPr/>
        </p:nvPicPr>
        <p:blipFill>
          <a:blip r:embed="rId2">
            <a:alphaModFix amt="20000"/>
          </a:blip>
          <a:srcRect t="20113" b="4888"/>
          <a:stretch/>
        </p:blipFill>
        <p:spPr>
          <a:xfrm>
            <a:off x="-104065"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049CBCEF-B4D0-F444-3944-8AE28293DF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730A6779-B9D5-E194-BD45-5E0BDDD4F09E}"/>
              </a:ext>
            </a:extLst>
          </p:cNvPr>
          <p:cNvSpPr>
            <a:spLocks noGrp="1"/>
          </p:cNvSpPr>
          <p:nvPr>
            <p:ph type="ctrTitle"/>
          </p:nvPr>
        </p:nvSpPr>
        <p:spPr>
          <a:xfrm>
            <a:off x="454491" y="914730"/>
            <a:ext cx="5641509" cy="5523224"/>
          </a:xfrm>
        </p:spPr>
        <p:txBody>
          <a:bodyPr anchor="t">
            <a:noAutofit/>
          </a:bodyPr>
          <a:lstStyle/>
          <a:p>
            <a:pPr>
              <a:lnSpc>
                <a:spcPct val="150000"/>
              </a:lnSpc>
            </a:pPr>
            <a:r>
              <a:rPr lang="en-US" sz="2000" b="0" dirty="0" err="1">
                <a:solidFill>
                  <a:srgbClr val="FFFFFF"/>
                </a:solidFill>
                <a:latin typeface="Times New Roman" panose="02020603050405020304" pitchFamily="18" charset="0"/>
                <a:cs typeface="Times New Roman" panose="02020603050405020304" pitchFamily="18" charset="0"/>
              </a:rPr>
              <a:t>Atleast</a:t>
            </a:r>
            <a:r>
              <a:rPr lang="en-US" sz="2000" b="0" dirty="0">
                <a:solidFill>
                  <a:srgbClr val="FFFFFF"/>
                </a:solidFill>
                <a:latin typeface="Times New Roman" panose="02020603050405020304" pitchFamily="18" charset="0"/>
                <a:cs typeface="Times New Roman" panose="02020603050405020304" pitchFamily="18" charset="0"/>
              </a:rPr>
              <a:t> 2/3 of pipelines in Kenya are above </a:t>
            </a:r>
            <a:r>
              <a:rPr lang="en-US" sz="2000" b="0" dirty="0" err="1">
                <a:solidFill>
                  <a:srgbClr val="FFFFFF"/>
                </a:solidFill>
                <a:latin typeface="Times New Roman" panose="02020603050405020304" pitchFamily="18" charset="0"/>
                <a:cs typeface="Times New Roman" panose="02020603050405020304" pitchFamily="18" charset="0"/>
              </a:rPr>
              <a:t>groundhfdh</a:t>
            </a:r>
            <a:endParaRPr lang="en-KE" sz="2000" b="0" dirty="0">
              <a:solidFill>
                <a:srgbClr val="FFFFFF"/>
              </a:solidFill>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79363D80-8E6C-BEBE-CAE7-1DD5498FA7F2}"/>
              </a:ext>
            </a:extLst>
          </p:cNvPr>
          <p:cNvSpPr>
            <a:spLocks noGrp="1"/>
          </p:cNvSpPr>
          <p:nvPr>
            <p:ph type="subTitle" idx="1"/>
          </p:nvPr>
        </p:nvSpPr>
        <p:spPr>
          <a:xfrm>
            <a:off x="151384" y="-40497"/>
            <a:ext cx="6402572" cy="673822"/>
          </a:xfrm>
        </p:spPr>
        <p:txBody>
          <a:bodyPr anchor="b">
            <a:normAutofit fontScale="85000" lnSpcReduction="10000"/>
          </a:bodyPr>
          <a:lstStyle/>
          <a:p>
            <a:r>
              <a:rPr lang="en-GB" sz="2800" dirty="0">
                <a:solidFill>
                  <a:srgbClr val="FFFFFF"/>
                </a:solidFill>
                <a:latin typeface="Times New Roman" panose="02020603050405020304" pitchFamily="18" charset="0"/>
                <a:cs typeface="Times New Roman" panose="02020603050405020304" pitchFamily="18" charset="0"/>
              </a:rPr>
              <a:t>Geospatial mapping analysis</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4386A467-8560-A3E2-2E60-43C8812A31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19249449-CA93-AFC8-73C9-57C6E8B4F29D}"/>
              </a:ext>
            </a:extLst>
          </p:cNvPr>
          <p:cNvPicPr>
            <a:picLocks noChangeAspect="1"/>
          </p:cNvPicPr>
          <p:nvPr/>
        </p:nvPicPr>
        <p:blipFill>
          <a:blip r:embed="rId4"/>
          <a:stretch>
            <a:fillRect/>
          </a:stretch>
        </p:blipFill>
        <p:spPr>
          <a:xfrm>
            <a:off x="244810" y="916731"/>
            <a:ext cx="5851190" cy="5523365"/>
          </a:xfrm>
          <a:prstGeom prst="rect">
            <a:avLst/>
          </a:prstGeom>
        </p:spPr>
      </p:pic>
      <p:sp>
        <p:nvSpPr>
          <p:cNvPr id="10" name="TextBox 9">
            <a:extLst>
              <a:ext uri="{FF2B5EF4-FFF2-40B4-BE49-F238E27FC236}">
                <a16:creationId xmlns:a16="http://schemas.microsoft.com/office/drawing/2014/main" id="{6E7EF89C-DB7E-C33C-436D-EC9D2AE69A69}"/>
              </a:ext>
            </a:extLst>
          </p:cNvPr>
          <p:cNvSpPr txBox="1"/>
          <p:nvPr/>
        </p:nvSpPr>
        <p:spPr>
          <a:xfrm>
            <a:off x="6134311" y="1031001"/>
            <a:ext cx="6198432" cy="1477328"/>
          </a:xfrm>
          <a:prstGeom prst="rect">
            <a:avLst/>
          </a:prstGeom>
          <a:noFill/>
        </p:spPr>
        <p:txBody>
          <a:bodyPr wrap="square">
            <a:spAutoFit/>
          </a:bodyPr>
          <a:lstStyle/>
          <a:p>
            <a:r>
              <a:rPr lang="en-US" dirty="0">
                <a:solidFill>
                  <a:srgbClr val="FFFFFF"/>
                </a:solidFill>
                <a:latin typeface="Times New Roman" panose="02020603050405020304" pitchFamily="18" charset="0"/>
                <a:cs typeface="Times New Roman" panose="02020603050405020304" pitchFamily="18" charset="0"/>
              </a:rPr>
              <a:t>Geodata of all ecological zones </a:t>
            </a:r>
            <a:r>
              <a:rPr lang="en-US" dirty="0" err="1">
                <a:solidFill>
                  <a:srgbClr val="FFFFFF"/>
                </a:solidFill>
                <a:latin typeface="Times New Roman" panose="02020603050405020304" pitchFamily="18" charset="0"/>
                <a:cs typeface="Times New Roman" panose="02020603050405020304" pitchFamily="18" charset="0"/>
              </a:rPr>
              <a:t>ie</a:t>
            </a:r>
            <a:r>
              <a:rPr lang="en-US" dirty="0">
                <a:solidFill>
                  <a:srgbClr val="FFFFFF"/>
                </a:solidFill>
                <a:latin typeface="Times New Roman" panose="02020603050405020304" pitchFamily="18" charset="0"/>
                <a:cs typeface="Times New Roman" panose="02020603050405020304" pitchFamily="18" charset="0"/>
              </a:rPr>
              <a:t> waterways, forests, parks, conservancies,  and the existing pipeline in Kenya.</a:t>
            </a:r>
          </a:p>
          <a:p>
            <a:endParaRPr lang="en-US" dirty="0">
              <a:solidFill>
                <a:srgbClr val="FFFFFF"/>
              </a:solidFill>
              <a:latin typeface="Times New Roman" panose="02020603050405020304" pitchFamily="18" charset="0"/>
              <a:cs typeface="Times New Roman" panose="02020603050405020304" pitchFamily="18" charset="0"/>
            </a:endParaRPr>
          </a:p>
          <a:p>
            <a:r>
              <a:rPr lang="en-US" dirty="0">
                <a:solidFill>
                  <a:srgbClr val="FFFFFF"/>
                </a:solidFill>
                <a:latin typeface="Times New Roman" panose="02020603050405020304" pitchFamily="18" charset="0"/>
                <a:cs typeface="Times New Roman" panose="02020603050405020304" pitchFamily="18" charset="0"/>
              </a:rPr>
              <a:t>This is an illustration of the route covered by the oil and gas pipeline in proximity to sensitive zones.</a:t>
            </a:r>
            <a:endParaRPr lang="en-KE" dirty="0"/>
          </a:p>
        </p:txBody>
      </p:sp>
    </p:spTree>
    <p:extLst>
      <p:ext uri="{BB962C8B-B14F-4D97-AF65-F5344CB8AC3E}">
        <p14:creationId xmlns:p14="http://schemas.microsoft.com/office/powerpoint/2010/main" val="1585856249"/>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E2516828-ADCA-D256-4385-2CBB3C0F3A52}"/>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C478165-ABF4-6043-712F-9992BFFBA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DD354E06-C5DB-FDA9-FB00-B3804CA530ED}"/>
              </a:ext>
            </a:extLst>
          </p:cNvPr>
          <p:cNvPicPr>
            <a:picLocks noChangeAspect="1"/>
          </p:cNvPicPr>
          <p:nvPr/>
        </p:nvPicPr>
        <p:blipFill>
          <a:blip r:embed="rId2">
            <a:alphaModFix amt="20000"/>
          </a:blip>
          <a:srcRect t="20113" b="4888"/>
          <a:stretch/>
        </p:blipFill>
        <p:spPr>
          <a:xfrm>
            <a:off x="96239" y="0"/>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37F3A423-5EF3-52EA-6A15-F6EE682EA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286EC2D9-3657-8B28-45B7-A8A6F5D0FEB2}"/>
              </a:ext>
            </a:extLst>
          </p:cNvPr>
          <p:cNvSpPr>
            <a:spLocks noGrp="1"/>
          </p:cNvSpPr>
          <p:nvPr>
            <p:ph type="ctrTitle"/>
          </p:nvPr>
        </p:nvSpPr>
        <p:spPr>
          <a:xfrm>
            <a:off x="599107" y="990592"/>
            <a:ext cx="11054615" cy="5523224"/>
          </a:xfrm>
        </p:spPr>
        <p:txBody>
          <a:bodyPr anchor="t">
            <a:noAutofit/>
          </a:bodyPr>
          <a:lstStyle/>
          <a:p>
            <a:pPr marL="342900" indent="-342900">
              <a:lnSpc>
                <a:spcPct val="150000"/>
              </a:lnSpc>
              <a:buFont typeface="Wingdings" panose="05000000000000000000" pitchFamily="2" charset="2"/>
              <a:buChar char="§"/>
            </a:pPr>
            <a:r>
              <a:rPr lang="en-US" sz="2000" b="0" dirty="0" err="1">
                <a:solidFill>
                  <a:srgbClr val="FFFFFF"/>
                </a:solidFill>
                <a:latin typeface="Times New Roman" panose="02020603050405020304" pitchFamily="18" charset="0"/>
                <a:cs typeface="Times New Roman" panose="02020603050405020304" pitchFamily="18" charset="0"/>
              </a:rPr>
              <a:t>Atleast</a:t>
            </a:r>
            <a:r>
              <a:rPr lang="en-US" sz="2000" b="0" dirty="0">
                <a:solidFill>
                  <a:srgbClr val="FFFFFF"/>
                </a:solidFill>
                <a:latin typeface="Times New Roman" panose="02020603050405020304" pitchFamily="18" charset="0"/>
                <a:cs typeface="Times New Roman" panose="02020603050405020304" pitchFamily="18" charset="0"/>
              </a:rPr>
              <a:t> 2/3 of pipelines in Kenya are above ground</a:t>
            </a:r>
            <a:endParaRPr lang="en-KE" sz="2000" b="0" dirty="0">
              <a:solidFill>
                <a:srgbClr val="FFFFFF"/>
              </a:solidFill>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17D28AEF-5579-FAEB-146F-26968FCA4681}"/>
              </a:ext>
            </a:extLst>
          </p:cNvPr>
          <p:cNvSpPr>
            <a:spLocks noGrp="1"/>
          </p:cNvSpPr>
          <p:nvPr>
            <p:ph type="subTitle" idx="1"/>
          </p:nvPr>
        </p:nvSpPr>
        <p:spPr>
          <a:xfrm>
            <a:off x="599107" y="158385"/>
            <a:ext cx="6402572" cy="673822"/>
          </a:xfrm>
        </p:spPr>
        <p:txBody>
          <a:bodyPr anchor="b">
            <a:normAutofit fontScale="92500"/>
          </a:bodyPr>
          <a:lstStyle/>
          <a:p>
            <a:r>
              <a:rPr lang="en-GB" sz="2800" dirty="0">
                <a:solidFill>
                  <a:srgbClr val="FFFFFF"/>
                </a:solidFill>
                <a:latin typeface="Times New Roman" panose="02020603050405020304" pitchFamily="18" charset="0"/>
                <a:cs typeface="Times New Roman" panose="02020603050405020304" pitchFamily="18" charset="0"/>
              </a:rPr>
              <a:t>Exploratory DATA ANALYSIS</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9743616C-0E87-1364-C266-0CDB0B39B9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2" name="Picture 2">
            <a:extLst>
              <a:ext uri="{FF2B5EF4-FFF2-40B4-BE49-F238E27FC236}">
                <a16:creationId xmlns:a16="http://schemas.microsoft.com/office/drawing/2014/main" id="{E9F27E3D-45AB-E163-2EA5-D0A296E29112}"/>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718052" y="1530900"/>
            <a:ext cx="5458719" cy="4826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5017043"/>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52948591-6692-70B0-7F05-23E33D5D28A1}"/>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EB5B759-3CE7-FE66-F2FD-22A39F64E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A44C0B52-36AA-4932-B977-A1922CBE4902}"/>
              </a:ext>
            </a:extLst>
          </p:cNvPr>
          <p:cNvPicPr>
            <a:picLocks noChangeAspect="1"/>
          </p:cNvPicPr>
          <p:nvPr/>
        </p:nvPicPr>
        <p:blipFill>
          <a:blip r:embed="rId2">
            <a:alphaModFix amt="20000"/>
          </a:blip>
          <a:srcRect t="20113" b="4888"/>
          <a:stretch/>
        </p:blipFill>
        <p:spPr>
          <a:xfrm>
            <a:off x="30415"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FCBAEF24-0412-5843-1D43-64CFC44DD1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A3777065-8682-CFE4-964C-83E2DD28780E}"/>
              </a:ext>
            </a:extLst>
          </p:cNvPr>
          <p:cNvSpPr>
            <a:spLocks noGrp="1"/>
          </p:cNvSpPr>
          <p:nvPr>
            <p:ph type="ctrTitle"/>
          </p:nvPr>
        </p:nvSpPr>
        <p:spPr>
          <a:xfrm>
            <a:off x="599107" y="990592"/>
            <a:ext cx="11054615" cy="5523224"/>
          </a:xfrm>
        </p:spPr>
        <p:txBody>
          <a:bodyPr anchor="t">
            <a:noAutofit/>
          </a:bodyPr>
          <a:lstStyle/>
          <a:p>
            <a:pPr>
              <a:lnSpc>
                <a:spcPct val="150000"/>
              </a:lnSpc>
            </a:pPr>
            <a:br>
              <a:rPr lang="en-US" sz="2000" b="0" dirty="0">
                <a:solidFill>
                  <a:srgbClr val="FFFFFF"/>
                </a:solidFill>
                <a:latin typeface="Times New Roman" panose="02020603050405020304" pitchFamily="18" charset="0"/>
                <a:cs typeface="Times New Roman" panose="02020603050405020304" pitchFamily="18" charset="0"/>
              </a:rPr>
            </a:br>
            <a:endParaRPr lang="en-KE" sz="2000" b="0" dirty="0">
              <a:solidFill>
                <a:srgbClr val="FFFFFF"/>
              </a:solidFill>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96A5C3B3-2EDA-6EDC-4C4F-E797B9E0FFC6}"/>
              </a:ext>
            </a:extLst>
          </p:cNvPr>
          <p:cNvSpPr>
            <a:spLocks noGrp="1"/>
          </p:cNvSpPr>
          <p:nvPr>
            <p:ph type="subTitle" idx="1"/>
          </p:nvPr>
        </p:nvSpPr>
        <p:spPr>
          <a:xfrm>
            <a:off x="599107" y="158385"/>
            <a:ext cx="6402572" cy="673822"/>
          </a:xfrm>
        </p:spPr>
        <p:txBody>
          <a:bodyPr anchor="b">
            <a:normAutofit/>
          </a:bodyPr>
          <a:lstStyle/>
          <a:p>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0DB51923-F84F-52ED-829C-F9517D8549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9" name="Content Placeholder 4">
            <a:extLst>
              <a:ext uri="{FF2B5EF4-FFF2-40B4-BE49-F238E27FC236}">
                <a16:creationId xmlns:a16="http://schemas.microsoft.com/office/drawing/2014/main" id="{1880ADA0-7D1E-D4D8-3D8D-15FA495B33B9}"/>
              </a:ext>
            </a:extLst>
          </p:cNvPr>
          <p:cNvPicPr>
            <a:picLocks noChangeAspect="1"/>
          </p:cNvPicPr>
          <p:nvPr/>
        </p:nvPicPr>
        <p:blipFill>
          <a:blip r:embed="rId4"/>
          <a:stretch>
            <a:fillRect/>
          </a:stretch>
        </p:blipFill>
        <p:spPr>
          <a:xfrm>
            <a:off x="2333903" y="1031001"/>
            <a:ext cx="7585022" cy="4971936"/>
          </a:xfrm>
          <a:prstGeom prst="rect">
            <a:avLst/>
          </a:prstGeom>
        </p:spPr>
      </p:pic>
      <p:sp>
        <p:nvSpPr>
          <p:cNvPr id="3" name="TextBox 2">
            <a:extLst>
              <a:ext uri="{FF2B5EF4-FFF2-40B4-BE49-F238E27FC236}">
                <a16:creationId xmlns:a16="http://schemas.microsoft.com/office/drawing/2014/main" id="{389DDF6E-89D7-C82C-9DCF-3BC0F0D193B4}"/>
              </a:ext>
            </a:extLst>
          </p:cNvPr>
          <p:cNvSpPr txBox="1"/>
          <p:nvPr/>
        </p:nvSpPr>
        <p:spPr>
          <a:xfrm>
            <a:off x="2383436" y="6219285"/>
            <a:ext cx="7704944" cy="646331"/>
          </a:xfrm>
          <a:prstGeom prst="rect">
            <a:avLst/>
          </a:prstGeom>
          <a:noFill/>
        </p:spPr>
        <p:txBody>
          <a:bodyPr wrap="square">
            <a:spAutoFit/>
          </a:bodyPr>
          <a:lstStyle/>
          <a:p>
            <a:r>
              <a:rPr lang="en-US" sz="1800" b="0" dirty="0">
                <a:solidFill>
                  <a:srgbClr val="FFFFFF"/>
                </a:solidFill>
                <a:latin typeface="Times New Roman" panose="02020603050405020304" pitchFamily="18" charset="0"/>
                <a:cs typeface="Times New Roman" panose="02020603050405020304" pitchFamily="18" charset="0"/>
              </a:rPr>
              <a:t>This graph shows the population highlighting the areas that are at high risk near/ along the pipelines.</a:t>
            </a:r>
            <a:endParaRPr lang="en-KE" dirty="0"/>
          </a:p>
        </p:txBody>
      </p:sp>
    </p:spTree>
    <p:extLst>
      <p:ext uri="{BB962C8B-B14F-4D97-AF65-F5344CB8AC3E}">
        <p14:creationId xmlns:p14="http://schemas.microsoft.com/office/powerpoint/2010/main" val="1627028208"/>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D76084F7-5295-3550-A2C0-5664A33AFC03}"/>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073AE7D-E3F0-4667-610A-C249C362C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6D155580-2DDD-F0E0-1BC1-DCBE069B7F3B}"/>
              </a:ext>
            </a:extLst>
          </p:cNvPr>
          <p:cNvPicPr>
            <a:picLocks noChangeAspect="1"/>
          </p:cNvPicPr>
          <p:nvPr/>
        </p:nvPicPr>
        <p:blipFill>
          <a:blip r:embed="rId2">
            <a:alphaModFix amt="20000"/>
          </a:blip>
          <a:srcRect t="20113" b="4888"/>
          <a:stretch/>
        </p:blipFill>
        <p:spPr>
          <a:xfrm>
            <a:off x="96239" y="0"/>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D25B5E6C-E534-5847-9117-7160F4E8D3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4D08BD7F-6F64-B533-FFF1-22CE7B069682}"/>
              </a:ext>
            </a:extLst>
          </p:cNvPr>
          <p:cNvSpPr>
            <a:spLocks noGrp="1"/>
          </p:cNvSpPr>
          <p:nvPr>
            <p:ph type="ctrTitle"/>
          </p:nvPr>
        </p:nvSpPr>
        <p:spPr>
          <a:xfrm>
            <a:off x="599107" y="990592"/>
            <a:ext cx="11054615" cy="5523224"/>
          </a:xfrm>
        </p:spPr>
        <p:txBody>
          <a:bodyPr anchor="t">
            <a:noAutofit/>
          </a:bodyPr>
          <a:lstStyle/>
          <a:p>
            <a:br>
              <a:rPr lang="en-US" sz="2000" b="0" i="0" dirty="0">
                <a:solidFill>
                  <a:schemeClr val="accent6"/>
                </a:solidFill>
                <a:effectLst/>
                <a:latin typeface="Consolas" panose="020B0609020204030204" pitchFamily="49" charset="0"/>
              </a:rPr>
            </a:br>
            <a:br>
              <a:rPr lang="en-US" sz="2000" b="0" i="0" dirty="0">
                <a:solidFill>
                  <a:schemeClr val="accent6"/>
                </a:solidFill>
                <a:effectLst/>
                <a:latin typeface="Consolas" panose="020B0609020204030204" pitchFamily="49" charset="0"/>
              </a:rPr>
            </a:br>
            <a:endParaRPr lang="en-KE" sz="2000" b="1" dirty="0">
              <a:solidFill>
                <a:schemeClr val="tx1">
                  <a:lumMod val="95000"/>
                </a:schemeClr>
              </a:solidFill>
            </a:endParaRPr>
          </a:p>
        </p:txBody>
      </p:sp>
      <p:sp>
        <p:nvSpPr>
          <p:cNvPr id="6" name="Subtitle 5">
            <a:extLst>
              <a:ext uri="{FF2B5EF4-FFF2-40B4-BE49-F238E27FC236}">
                <a16:creationId xmlns:a16="http://schemas.microsoft.com/office/drawing/2014/main" id="{58AE8210-EBBD-6095-566E-1B51F1D08FAF}"/>
              </a:ext>
            </a:extLst>
          </p:cNvPr>
          <p:cNvSpPr>
            <a:spLocks noGrp="1"/>
          </p:cNvSpPr>
          <p:nvPr>
            <p:ph type="subTitle" idx="1"/>
          </p:nvPr>
        </p:nvSpPr>
        <p:spPr>
          <a:xfrm>
            <a:off x="599107" y="158385"/>
            <a:ext cx="6402572" cy="673822"/>
          </a:xfrm>
        </p:spPr>
        <p:txBody>
          <a:bodyPr anchor="b">
            <a:normAutofit fontScale="92500"/>
          </a:bodyPr>
          <a:lstStyle/>
          <a:p>
            <a:r>
              <a:rPr lang="en-GB" sz="2800" dirty="0">
                <a:solidFill>
                  <a:srgbClr val="FFFFFF"/>
                </a:solidFill>
                <a:latin typeface="Times New Roman" panose="02020603050405020304" pitchFamily="18" charset="0"/>
                <a:cs typeface="Times New Roman" panose="02020603050405020304" pitchFamily="18" charset="0"/>
              </a:rPr>
              <a:t>Exploratory DATA ANALYSIS</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F6C3B795-7E8E-A06A-E965-823C29B588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2" name="Content Placeholder 4">
            <a:extLst>
              <a:ext uri="{FF2B5EF4-FFF2-40B4-BE49-F238E27FC236}">
                <a16:creationId xmlns:a16="http://schemas.microsoft.com/office/drawing/2014/main" id="{9D4DA510-E830-0B28-2E73-93D12CAA6A73}"/>
              </a:ext>
            </a:extLst>
          </p:cNvPr>
          <p:cNvPicPr>
            <a:picLocks noChangeAspect="1"/>
          </p:cNvPicPr>
          <p:nvPr/>
        </p:nvPicPr>
        <p:blipFill>
          <a:blip r:embed="rId4"/>
          <a:stretch>
            <a:fillRect/>
          </a:stretch>
        </p:blipFill>
        <p:spPr>
          <a:xfrm>
            <a:off x="207241" y="852755"/>
            <a:ext cx="9060049" cy="3780890"/>
          </a:xfrm>
          <a:prstGeom prst="rect">
            <a:avLst/>
          </a:prstGeom>
        </p:spPr>
      </p:pic>
    </p:spTree>
    <p:extLst>
      <p:ext uri="{BB962C8B-B14F-4D97-AF65-F5344CB8AC3E}">
        <p14:creationId xmlns:p14="http://schemas.microsoft.com/office/powerpoint/2010/main" val="3254437814"/>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2CA0A7C5-FA87-398F-CF7D-5388E4152223}"/>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F19EA80-4E0D-0110-8176-5192A57972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7A5F5767-9C70-79E6-7A15-E2AB8858232C}"/>
              </a:ext>
            </a:extLst>
          </p:cNvPr>
          <p:cNvPicPr>
            <a:picLocks noChangeAspect="1"/>
          </p:cNvPicPr>
          <p:nvPr/>
        </p:nvPicPr>
        <p:blipFill>
          <a:blip r:embed="rId2">
            <a:alphaModFix amt="20000"/>
          </a:blip>
          <a:srcRect t="20113" b="4888"/>
          <a:stretch/>
        </p:blipFill>
        <p:spPr>
          <a:xfrm>
            <a:off x="-406"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342CE8E3-BD30-1A70-63C4-5D697972A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A8CEF8D1-E0EA-4C9B-8AE6-496D198FEB90}"/>
              </a:ext>
            </a:extLst>
          </p:cNvPr>
          <p:cNvSpPr>
            <a:spLocks noGrp="1"/>
          </p:cNvSpPr>
          <p:nvPr>
            <p:ph type="ctrTitle"/>
          </p:nvPr>
        </p:nvSpPr>
        <p:spPr>
          <a:xfrm>
            <a:off x="599107" y="990592"/>
            <a:ext cx="11054615" cy="5523224"/>
          </a:xfrm>
        </p:spPr>
        <p:txBody>
          <a:bodyPr anchor="t">
            <a:noAutofit/>
          </a:bodyPr>
          <a:lstStyle/>
          <a:p>
            <a:br>
              <a:rPr lang="en-US" sz="2000" b="0" i="0" dirty="0">
                <a:solidFill>
                  <a:schemeClr val="accent6"/>
                </a:solidFill>
                <a:effectLst/>
                <a:latin typeface="Consolas" panose="020B0609020204030204" pitchFamily="49" charset="0"/>
              </a:rPr>
            </a:br>
            <a:br>
              <a:rPr lang="en-US" sz="2000" b="0" i="0" dirty="0">
                <a:solidFill>
                  <a:schemeClr val="accent6"/>
                </a:solidFill>
                <a:effectLst/>
                <a:latin typeface="Consolas" panose="020B0609020204030204" pitchFamily="49" charset="0"/>
              </a:rPr>
            </a:br>
            <a:endParaRPr lang="en-KE" sz="2000" b="1" dirty="0">
              <a:solidFill>
                <a:schemeClr val="tx1">
                  <a:lumMod val="95000"/>
                </a:schemeClr>
              </a:solidFill>
            </a:endParaRPr>
          </a:p>
        </p:txBody>
      </p:sp>
      <p:sp>
        <p:nvSpPr>
          <p:cNvPr id="6" name="Subtitle 5">
            <a:extLst>
              <a:ext uri="{FF2B5EF4-FFF2-40B4-BE49-F238E27FC236}">
                <a16:creationId xmlns:a16="http://schemas.microsoft.com/office/drawing/2014/main" id="{CF5BAC10-9E74-2A34-EC64-629BA6ED96D2}"/>
              </a:ext>
            </a:extLst>
          </p:cNvPr>
          <p:cNvSpPr>
            <a:spLocks noGrp="1"/>
          </p:cNvSpPr>
          <p:nvPr>
            <p:ph type="subTitle" idx="1"/>
          </p:nvPr>
        </p:nvSpPr>
        <p:spPr>
          <a:xfrm>
            <a:off x="599107" y="158385"/>
            <a:ext cx="6402572" cy="673822"/>
          </a:xfrm>
        </p:spPr>
        <p:txBody>
          <a:bodyPr anchor="b">
            <a:normAutofit fontScale="92500"/>
          </a:bodyPr>
          <a:lstStyle/>
          <a:p>
            <a:r>
              <a:rPr lang="en-GB" sz="2800" dirty="0">
                <a:solidFill>
                  <a:srgbClr val="FFFFFF"/>
                </a:solidFill>
                <a:latin typeface="Times New Roman" panose="02020603050405020304" pitchFamily="18" charset="0"/>
                <a:cs typeface="Times New Roman" panose="02020603050405020304" pitchFamily="18" charset="0"/>
              </a:rPr>
              <a:t>Exploratory DATA ANALYSIS</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8844A8CB-8719-A089-3E65-D72FA0D2F0C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F94E41A-D2E8-810F-7A6E-9754D8CEAF99}"/>
              </a:ext>
            </a:extLst>
          </p:cNvPr>
          <p:cNvSpPr txBox="1"/>
          <p:nvPr/>
        </p:nvSpPr>
        <p:spPr>
          <a:xfrm>
            <a:off x="598699" y="1031001"/>
            <a:ext cx="11477188" cy="2862322"/>
          </a:xfrm>
          <a:prstGeom prst="rect">
            <a:avLst/>
          </a:prstGeom>
          <a:noFill/>
        </p:spPr>
        <p:txBody>
          <a:bodyPr wrap="square">
            <a:spAutoFit/>
          </a:bodyPr>
          <a:lstStyle/>
          <a:p>
            <a:r>
              <a:rPr lang="en-US" dirty="0"/>
              <a:t>1</a:t>
            </a:r>
            <a:r>
              <a:rPr lang="en-US" sz="2000" dirty="0">
                <a:latin typeface="Times New Roman" panose="02020603050405020304" pitchFamily="18" charset="0"/>
                <a:cs typeface="Times New Roman" panose="02020603050405020304" pitchFamily="18" charset="0"/>
              </a:rPr>
              <a:t>. Tsavo East:- Percentage Coverage: 17.23%. </a:t>
            </a:r>
          </a:p>
          <a:p>
            <a:pPr marL="0" indent="0">
              <a:buNone/>
            </a:pPr>
            <a:r>
              <a:rPr lang="en-US" sz="2000" dirty="0">
                <a:latin typeface="Times New Roman" panose="02020603050405020304" pitchFamily="18" charset="0"/>
                <a:cs typeface="Times New Roman" panose="02020603050405020304" pitchFamily="18" charset="0"/>
              </a:rPr>
              <a:t>This indicates a </a:t>
            </a:r>
            <a:r>
              <a:rPr lang="en-US" sz="2000" b="1" dirty="0">
                <a:latin typeface="Times New Roman" panose="02020603050405020304" pitchFamily="18" charset="0"/>
                <a:cs typeface="Times New Roman" panose="02020603050405020304" pitchFamily="18" charset="0"/>
              </a:rPr>
              <a:t>moderate</a:t>
            </a:r>
            <a:r>
              <a:rPr lang="en-US" sz="2000" dirty="0">
                <a:latin typeface="Times New Roman" panose="02020603050405020304" pitchFamily="18" charset="0"/>
                <a:cs typeface="Times New Roman" panose="02020603050405020304" pitchFamily="18" charset="0"/>
              </a:rPr>
              <a:t> impact of pipelines on the park's boundary.</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2. Ngai </a:t>
            </a:r>
            <a:r>
              <a:rPr lang="en-US" sz="2000" dirty="0" err="1">
                <a:latin typeface="Times New Roman" panose="02020603050405020304" pitchFamily="18" charset="0"/>
                <a:cs typeface="Times New Roman" panose="02020603050405020304" pitchFamily="18" charset="0"/>
              </a:rPr>
              <a:t>Ndethia</a:t>
            </a:r>
            <a:r>
              <a:rPr lang="en-US" sz="2000" dirty="0">
                <a:latin typeface="Times New Roman" panose="02020603050405020304" pitchFamily="18" charset="0"/>
                <a:cs typeface="Times New Roman" panose="02020603050405020304" pitchFamily="18" charset="0"/>
              </a:rPr>
              <a:t>:- Percentage Coverage: 1.43%. </a:t>
            </a:r>
          </a:p>
          <a:p>
            <a:pPr marL="0" indent="0">
              <a:buNone/>
            </a:pPr>
            <a:r>
              <a:rPr lang="en-US" sz="2000" dirty="0">
                <a:latin typeface="Times New Roman" panose="02020603050405020304" pitchFamily="18" charset="0"/>
                <a:cs typeface="Times New Roman" panose="02020603050405020304" pitchFamily="18" charset="0"/>
              </a:rPr>
              <a:t>The impact of pipelines on this park is </a:t>
            </a:r>
            <a:r>
              <a:rPr lang="en-US" sz="2000" b="1" dirty="0">
                <a:latin typeface="Times New Roman" panose="02020603050405020304" pitchFamily="18" charset="0"/>
                <a:cs typeface="Times New Roman" panose="02020603050405020304" pitchFamily="18" charset="0"/>
              </a:rPr>
              <a:t>minimal</a:t>
            </a:r>
            <a:r>
              <a:rPr lang="en-US" sz="2000" dirty="0">
                <a:latin typeface="Times New Roman" panose="02020603050405020304" pitchFamily="18" charset="0"/>
                <a:cs typeface="Times New Roman" panose="02020603050405020304" pitchFamily="18" charset="0"/>
              </a:rPr>
              <a:t>, as only a small fraction of its boundary is affected.</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3. Nairobi National Park (Row 0):- Percentage Coverage: 30.43% of the park's boundary length is affected by pipelines. </a:t>
            </a:r>
          </a:p>
          <a:p>
            <a:pPr marL="0" indent="0">
              <a:buNone/>
            </a:pPr>
            <a:r>
              <a:rPr lang="en-US" sz="2000" dirty="0">
                <a:latin typeface="Times New Roman" panose="02020603050405020304" pitchFamily="18" charset="0"/>
                <a:cs typeface="Times New Roman" panose="02020603050405020304" pitchFamily="18" charset="0"/>
              </a:rPr>
              <a:t>This indicates a </a:t>
            </a:r>
            <a:r>
              <a:rPr lang="en-US" sz="2000" b="1" dirty="0">
                <a:latin typeface="Times New Roman" panose="02020603050405020304" pitchFamily="18" charset="0"/>
                <a:cs typeface="Times New Roman" panose="02020603050405020304" pitchFamily="18" charset="0"/>
              </a:rPr>
              <a:t>significant</a:t>
            </a:r>
            <a:r>
              <a:rPr lang="en-US" sz="2000" dirty="0">
                <a:latin typeface="Times New Roman" panose="02020603050405020304" pitchFamily="18" charset="0"/>
                <a:cs typeface="Times New Roman" panose="02020603050405020304" pitchFamily="18" charset="0"/>
              </a:rPr>
              <a:t> impact of pipelines on the park's boundary.</a:t>
            </a:r>
            <a:endParaRPr lang="en-KE"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0161159"/>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21E4335C-FE18-4662-8088-4DADFB7C2FF3}"/>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0A50D89-00F7-5B75-0041-55499E706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FA514D40-F372-1A5C-0425-8EAF42946A9C}"/>
              </a:ext>
            </a:extLst>
          </p:cNvPr>
          <p:cNvPicPr>
            <a:picLocks noChangeAspect="1"/>
          </p:cNvPicPr>
          <p:nvPr/>
        </p:nvPicPr>
        <p:blipFill>
          <a:blip r:embed="rId3">
            <a:alphaModFix amt="20000"/>
          </a:blip>
          <a:srcRect t="20113" b="4888"/>
          <a:stretch/>
        </p:blipFill>
        <p:spPr>
          <a:xfrm>
            <a:off x="30415" y="0"/>
            <a:ext cx="12191998" cy="6857848"/>
          </a:xfrm>
          <a:prstGeom prst="rect">
            <a:avLst/>
          </a:prstGeom>
          <a:blipFill dpi="0" rotWithShape="1">
            <a:blip r:embed="rId4">
              <a:alphaModFix amt="20000"/>
            </a:blip>
            <a:srcRect/>
            <a:tile tx="0" ty="0" sx="100000" sy="100000" flip="none" algn="tl"/>
          </a:blipFill>
        </p:spPr>
      </p:pic>
      <p:sp>
        <p:nvSpPr>
          <p:cNvPr id="25" name="Rectangle 24">
            <a:extLst>
              <a:ext uri="{FF2B5EF4-FFF2-40B4-BE49-F238E27FC236}">
                <a16:creationId xmlns:a16="http://schemas.microsoft.com/office/drawing/2014/main" id="{A67C348B-6009-6EF1-0FA1-61BE43B8F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2C344612-7955-3432-08F3-226FD068A090}"/>
              </a:ext>
            </a:extLst>
          </p:cNvPr>
          <p:cNvSpPr>
            <a:spLocks noGrp="1"/>
          </p:cNvSpPr>
          <p:nvPr>
            <p:ph type="ctrTitle"/>
          </p:nvPr>
        </p:nvSpPr>
        <p:spPr>
          <a:xfrm>
            <a:off x="599107" y="990592"/>
            <a:ext cx="11054615" cy="5523224"/>
          </a:xfrm>
        </p:spPr>
        <p:txBody>
          <a:bodyPr anchor="t">
            <a:noAutofit/>
          </a:bodyPr>
          <a:lstStyle/>
          <a:p>
            <a:br>
              <a:rPr lang="en-US" sz="2000" b="0" i="0" dirty="0">
                <a:solidFill>
                  <a:schemeClr val="accent6"/>
                </a:solidFill>
                <a:effectLst/>
                <a:latin typeface="Consolas" panose="020B0609020204030204" pitchFamily="49" charset="0"/>
              </a:rPr>
            </a:br>
            <a:br>
              <a:rPr lang="en-US" sz="2000" b="0" i="0" dirty="0">
                <a:solidFill>
                  <a:schemeClr val="accent6"/>
                </a:solidFill>
                <a:effectLst/>
                <a:latin typeface="Consolas" panose="020B0609020204030204" pitchFamily="49" charset="0"/>
              </a:rPr>
            </a:br>
            <a:endParaRPr lang="en-KE" sz="2000" b="1" dirty="0">
              <a:solidFill>
                <a:schemeClr val="tx1">
                  <a:lumMod val="95000"/>
                </a:schemeClr>
              </a:solidFill>
            </a:endParaRPr>
          </a:p>
        </p:txBody>
      </p:sp>
      <p:sp>
        <p:nvSpPr>
          <p:cNvPr id="6" name="Subtitle 5">
            <a:extLst>
              <a:ext uri="{FF2B5EF4-FFF2-40B4-BE49-F238E27FC236}">
                <a16:creationId xmlns:a16="http://schemas.microsoft.com/office/drawing/2014/main" id="{95389F93-BB48-3F3C-3667-D4CB2573C86B}"/>
              </a:ext>
            </a:extLst>
          </p:cNvPr>
          <p:cNvSpPr>
            <a:spLocks noGrp="1"/>
          </p:cNvSpPr>
          <p:nvPr>
            <p:ph type="subTitle" idx="1"/>
          </p:nvPr>
        </p:nvSpPr>
        <p:spPr>
          <a:xfrm>
            <a:off x="599107" y="158385"/>
            <a:ext cx="6402572" cy="673822"/>
          </a:xfrm>
        </p:spPr>
        <p:txBody>
          <a:bodyPr anchor="b">
            <a:normAutofit/>
          </a:bodyPr>
          <a:lstStyle/>
          <a:p>
            <a:r>
              <a:rPr lang="en-GB" sz="2800" dirty="0">
                <a:solidFill>
                  <a:srgbClr val="FFFFFF"/>
                </a:solidFill>
                <a:latin typeface="Times New Roman" panose="02020603050405020304" pitchFamily="18" charset="0"/>
                <a:cs typeface="Times New Roman" panose="02020603050405020304" pitchFamily="18" charset="0"/>
              </a:rPr>
              <a:t>MODELING STRATEGY</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1A9A30DE-1E1E-195C-5103-1FC3289E3F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29" name="TextBox 4">
            <a:extLst>
              <a:ext uri="{FF2B5EF4-FFF2-40B4-BE49-F238E27FC236}">
                <a16:creationId xmlns:a16="http://schemas.microsoft.com/office/drawing/2014/main" id="{61F81D07-9830-5362-32C4-4EA98C181201}"/>
              </a:ext>
            </a:extLst>
          </p:cNvPr>
          <p:cNvGraphicFramePr/>
          <p:nvPr>
            <p:extLst>
              <p:ext uri="{D42A27DB-BD31-4B8C-83A1-F6EECF244321}">
                <p14:modId xmlns:p14="http://schemas.microsoft.com/office/powerpoint/2010/main" val="852366485"/>
              </p:ext>
            </p:extLst>
          </p:nvPr>
        </p:nvGraphicFramePr>
        <p:xfrm>
          <a:off x="5506720" y="1334625"/>
          <a:ext cx="6685280" cy="55233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3" name="Picture 2" descr="Cubes connected with a red line">
            <a:extLst>
              <a:ext uri="{FF2B5EF4-FFF2-40B4-BE49-F238E27FC236}">
                <a16:creationId xmlns:a16="http://schemas.microsoft.com/office/drawing/2014/main" id="{47FA6993-A3A7-27ED-F11D-B9E829C87330}"/>
              </a:ext>
            </a:extLst>
          </p:cNvPr>
          <p:cNvPicPr>
            <a:picLocks noChangeAspect="1"/>
          </p:cNvPicPr>
          <p:nvPr/>
        </p:nvPicPr>
        <p:blipFill>
          <a:blip r:embed="rId10"/>
          <a:srcRect l="28443" r="17013" b="-1"/>
          <a:stretch/>
        </p:blipFill>
        <p:spPr>
          <a:xfrm>
            <a:off x="223113" y="1176398"/>
            <a:ext cx="4999261" cy="5523217"/>
          </a:xfrm>
          <a:prstGeom prst="rect">
            <a:avLst/>
          </a:prstGeom>
        </p:spPr>
      </p:pic>
    </p:spTree>
    <p:extLst>
      <p:ext uri="{BB962C8B-B14F-4D97-AF65-F5344CB8AC3E}">
        <p14:creationId xmlns:p14="http://schemas.microsoft.com/office/powerpoint/2010/main" val="2084331508"/>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A99C5081-A9D0-558D-E11F-8AC15B632391}"/>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E6BE7B6-4079-9EE6-F9DF-24BC4167B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83C9488A-237B-1A1E-FFBA-210EC4894863}"/>
              </a:ext>
            </a:extLst>
          </p:cNvPr>
          <p:cNvPicPr>
            <a:picLocks noChangeAspect="1"/>
          </p:cNvPicPr>
          <p:nvPr/>
        </p:nvPicPr>
        <p:blipFill>
          <a:blip r:embed="rId3">
            <a:alphaModFix amt="20000"/>
          </a:blip>
          <a:srcRect t="20113" b="4888"/>
          <a:stretch/>
        </p:blipFill>
        <p:spPr>
          <a:xfrm>
            <a:off x="-406" y="152"/>
            <a:ext cx="12191998" cy="6857848"/>
          </a:xfrm>
          <a:prstGeom prst="rect">
            <a:avLst/>
          </a:prstGeom>
          <a:blipFill dpi="0" rotWithShape="1">
            <a:blip r:embed="rId4">
              <a:alphaModFix amt="20000"/>
            </a:blip>
            <a:srcRect/>
            <a:tile tx="0" ty="0" sx="100000" sy="100000" flip="none" algn="tl"/>
          </a:blipFill>
        </p:spPr>
      </p:pic>
      <p:sp>
        <p:nvSpPr>
          <p:cNvPr id="25" name="Rectangle 24">
            <a:extLst>
              <a:ext uri="{FF2B5EF4-FFF2-40B4-BE49-F238E27FC236}">
                <a16:creationId xmlns:a16="http://schemas.microsoft.com/office/drawing/2014/main" id="{05B7BF28-3377-7A58-22E9-8A6BD234E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D298580B-7382-908E-8CE4-18F2CBF0BA76}"/>
              </a:ext>
            </a:extLst>
          </p:cNvPr>
          <p:cNvSpPr>
            <a:spLocks noGrp="1"/>
          </p:cNvSpPr>
          <p:nvPr>
            <p:ph type="ctrTitle"/>
          </p:nvPr>
        </p:nvSpPr>
        <p:spPr>
          <a:xfrm>
            <a:off x="599107" y="990592"/>
            <a:ext cx="11054615" cy="5523224"/>
          </a:xfrm>
        </p:spPr>
        <p:txBody>
          <a:bodyPr anchor="t">
            <a:noAutofit/>
          </a:bodyPr>
          <a:lstStyle/>
          <a:p>
            <a:br>
              <a:rPr lang="en-US" sz="2000" b="0" i="0" dirty="0">
                <a:solidFill>
                  <a:schemeClr val="accent6"/>
                </a:solidFill>
                <a:effectLst/>
                <a:latin typeface="Consolas" panose="020B0609020204030204" pitchFamily="49" charset="0"/>
              </a:rPr>
            </a:br>
            <a:br>
              <a:rPr lang="en-US" sz="2000" b="0" i="0" dirty="0">
                <a:solidFill>
                  <a:schemeClr val="accent6"/>
                </a:solidFill>
                <a:effectLst/>
                <a:latin typeface="Consolas" panose="020B0609020204030204" pitchFamily="49" charset="0"/>
              </a:rPr>
            </a:br>
            <a:endParaRPr lang="en-KE" sz="2000" b="1" dirty="0">
              <a:solidFill>
                <a:schemeClr val="tx1">
                  <a:lumMod val="95000"/>
                </a:schemeClr>
              </a:solidFill>
            </a:endParaRPr>
          </a:p>
        </p:txBody>
      </p:sp>
      <p:sp>
        <p:nvSpPr>
          <p:cNvPr id="6" name="Subtitle 5">
            <a:extLst>
              <a:ext uri="{FF2B5EF4-FFF2-40B4-BE49-F238E27FC236}">
                <a16:creationId xmlns:a16="http://schemas.microsoft.com/office/drawing/2014/main" id="{C0F7F5B8-3F80-A8A5-E43B-51E69ADBE2D7}"/>
              </a:ext>
            </a:extLst>
          </p:cNvPr>
          <p:cNvSpPr>
            <a:spLocks noGrp="1"/>
          </p:cNvSpPr>
          <p:nvPr>
            <p:ph type="subTitle" idx="1"/>
          </p:nvPr>
        </p:nvSpPr>
        <p:spPr>
          <a:xfrm>
            <a:off x="599107" y="158385"/>
            <a:ext cx="6402572" cy="673822"/>
          </a:xfrm>
        </p:spPr>
        <p:txBody>
          <a:bodyPr anchor="b">
            <a:normAutofit/>
          </a:bodyPr>
          <a:lstStyle/>
          <a:p>
            <a:r>
              <a:rPr lang="en-GB" sz="2800" dirty="0">
                <a:solidFill>
                  <a:srgbClr val="FFFFFF"/>
                </a:solidFill>
                <a:latin typeface="Times New Roman" panose="02020603050405020304" pitchFamily="18" charset="0"/>
                <a:cs typeface="Times New Roman" panose="02020603050405020304" pitchFamily="18" charset="0"/>
              </a:rPr>
              <a:t>MODELS USED</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FA48B922-A46E-7B6F-9992-A052046428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2" name="Content Placeholder 4">
            <a:extLst>
              <a:ext uri="{FF2B5EF4-FFF2-40B4-BE49-F238E27FC236}">
                <a16:creationId xmlns:a16="http://schemas.microsoft.com/office/drawing/2014/main" id="{737942DE-0391-0634-9380-9579BE0250CD}"/>
              </a:ext>
            </a:extLst>
          </p:cNvPr>
          <p:cNvPicPr>
            <a:picLocks noChangeAspect="1"/>
          </p:cNvPicPr>
          <p:nvPr/>
        </p:nvPicPr>
        <p:blipFill>
          <a:blip r:embed="rId5"/>
          <a:stretch>
            <a:fillRect/>
          </a:stretch>
        </p:blipFill>
        <p:spPr>
          <a:xfrm>
            <a:off x="353208" y="1285540"/>
            <a:ext cx="11147425" cy="4816415"/>
          </a:xfrm>
          <a:prstGeom prst="rect">
            <a:avLst/>
          </a:prstGeom>
        </p:spPr>
      </p:pic>
    </p:spTree>
    <p:extLst>
      <p:ext uri="{BB962C8B-B14F-4D97-AF65-F5344CB8AC3E}">
        <p14:creationId xmlns:p14="http://schemas.microsoft.com/office/powerpoint/2010/main" val="524853410"/>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D68DEFF7-9F60-B750-408E-F612891B7B85}"/>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A68BC0E-AB15-84D1-B985-B0E6519F3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7EB1732F-AE34-4EDD-A66F-6AD4AD7BFA8C}"/>
              </a:ext>
            </a:extLst>
          </p:cNvPr>
          <p:cNvPicPr>
            <a:picLocks noChangeAspect="1"/>
          </p:cNvPicPr>
          <p:nvPr/>
        </p:nvPicPr>
        <p:blipFill>
          <a:blip r:embed="rId3">
            <a:alphaModFix amt="20000"/>
          </a:blip>
          <a:srcRect t="20113" b="4888"/>
          <a:stretch/>
        </p:blipFill>
        <p:spPr>
          <a:xfrm>
            <a:off x="-406" y="152"/>
            <a:ext cx="12191998" cy="6857848"/>
          </a:xfrm>
          <a:prstGeom prst="rect">
            <a:avLst/>
          </a:prstGeom>
          <a:blipFill dpi="0" rotWithShape="1">
            <a:blip r:embed="rId4">
              <a:alphaModFix amt="20000"/>
            </a:blip>
            <a:srcRect/>
            <a:tile tx="0" ty="0" sx="100000" sy="100000" flip="none" algn="tl"/>
          </a:blipFill>
        </p:spPr>
      </p:pic>
      <p:sp>
        <p:nvSpPr>
          <p:cNvPr id="25" name="Rectangle 24">
            <a:extLst>
              <a:ext uri="{FF2B5EF4-FFF2-40B4-BE49-F238E27FC236}">
                <a16:creationId xmlns:a16="http://schemas.microsoft.com/office/drawing/2014/main" id="{14E8BBDA-9210-6426-9AC6-62EC8A2D2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0E95CA2E-B1FD-CD50-7847-3CCA707B5420}"/>
              </a:ext>
            </a:extLst>
          </p:cNvPr>
          <p:cNvSpPr>
            <a:spLocks noGrp="1"/>
          </p:cNvSpPr>
          <p:nvPr>
            <p:ph type="ctrTitle"/>
          </p:nvPr>
        </p:nvSpPr>
        <p:spPr>
          <a:xfrm>
            <a:off x="599107" y="990592"/>
            <a:ext cx="11054615" cy="5523224"/>
          </a:xfrm>
        </p:spPr>
        <p:txBody>
          <a:bodyPr anchor="t">
            <a:noAutofit/>
          </a:bodyPr>
          <a:lstStyle/>
          <a:p>
            <a:br>
              <a:rPr lang="en-US" sz="2000" b="0" i="0" dirty="0">
                <a:solidFill>
                  <a:schemeClr val="accent6"/>
                </a:solidFill>
                <a:effectLst/>
                <a:latin typeface="Consolas" panose="020B0609020204030204" pitchFamily="49" charset="0"/>
              </a:rPr>
            </a:br>
            <a:br>
              <a:rPr lang="en-US" sz="2000" b="0" i="0" dirty="0">
                <a:solidFill>
                  <a:schemeClr val="accent6"/>
                </a:solidFill>
                <a:effectLst/>
                <a:latin typeface="Consolas" panose="020B0609020204030204" pitchFamily="49" charset="0"/>
              </a:rPr>
            </a:br>
            <a:endParaRPr lang="en-KE" sz="2000" b="1" dirty="0">
              <a:solidFill>
                <a:schemeClr val="tx1">
                  <a:lumMod val="95000"/>
                </a:schemeClr>
              </a:solidFill>
            </a:endParaRPr>
          </a:p>
        </p:txBody>
      </p:sp>
      <p:sp>
        <p:nvSpPr>
          <p:cNvPr id="6" name="Subtitle 5">
            <a:extLst>
              <a:ext uri="{FF2B5EF4-FFF2-40B4-BE49-F238E27FC236}">
                <a16:creationId xmlns:a16="http://schemas.microsoft.com/office/drawing/2014/main" id="{78BDA45B-F635-5F46-13A1-048185F61CC6}"/>
              </a:ext>
            </a:extLst>
          </p:cNvPr>
          <p:cNvSpPr>
            <a:spLocks noGrp="1"/>
          </p:cNvSpPr>
          <p:nvPr>
            <p:ph type="subTitle" idx="1"/>
          </p:nvPr>
        </p:nvSpPr>
        <p:spPr>
          <a:xfrm>
            <a:off x="599107" y="158385"/>
            <a:ext cx="6402572" cy="673822"/>
          </a:xfrm>
        </p:spPr>
        <p:txBody>
          <a:bodyPr anchor="b">
            <a:normAutofit/>
          </a:bodyPr>
          <a:lstStyle/>
          <a:p>
            <a:r>
              <a:rPr lang="en-GB" sz="2800" dirty="0">
                <a:solidFill>
                  <a:srgbClr val="FFFFFF"/>
                </a:solidFill>
                <a:latin typeface="Times New Roman" panose="02020603050405020304" pitchFamily="18" charset="0"/>
                <a:cs typeface="Times New Roman" panose="02020603050405020304" pitchFamily="18" charset="0"/>
              </a:rPr>
              <a:t>RATIONALE:</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20D62AF9-7BA8-17C9-1468-B7FF037413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29" name="TextBox 4">
            <a:extLst>
              <a:ext uri="{FF2B5EF4-FFF2-40B4-BE49-F238E27FC236}">
                <a16:creationId xmlns:a16="http://schemas.microsoft.com/office/drawing/2014/main" id="{AFEC8D54-7EE5-2EB6-1A28-6918F5445EEF}"/>
              </a:ext>
            </a:extLst>
          </p:cNvPr>
          <p:cNvGraphicFramePr/>
          <p:nvPr>
            <p:extLst>
              <p:ext uri="{D42A27DB-BD31-4B8C-83A1-F6EECF244321}">
                <p14:modId xmlns:p14="http://schemas.microsoft.com/office/powerpoint/2010/main" val="2827953092"/>
              </p:ext>
            </p:extLst>
          </p:nvPr>
        </p:nvGraphicFramePr>
        <p:xfrm>
          <a:off x="718052" y="1170460"/>
          <a:ext cx="10729106" cy="560078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81304537"/>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AE59FDAE-916C-9412-44F7-6FCD10CAA1F3}"/>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0DCC49-64C4-CF9A-77F1-D140AA8BC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90F67018-9132-FF78-80B8-5DF1E01F084D}"/>
              </a:ext>
            </a:extLst>
          </p:cNvPr>
          <p:cNvPicPr>
            <a:picLocks noChangeAspect="1"/>
          </p:cNvPicPr>
          <p:nvPr/>
        </p:nvPicPr>
        <p:blipFill>
          <a:blip r:embed="rId2">
            <a:alphaModFix amt="20000"/>
          </a:blip>
          <a:srcRect t="20113" b="4888"/>
          <a:stretch/>
        </p:blipFill>
        <p:spPr>
          <a:xfrm>
            <a:off x="-406"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83EB2C7E-932F-8997-207B-F6D991DEB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79628B18-9157-B247-3CC6-CEE57C39342C}"/>
              </a:ext>
            </a:extLst>
          </p:cNvPr>
          <p:cNvSpPr>
            <a:spLocks noGrp="1"/>
          </p:cNvSpPr>
          <p:nvPr>
            <p:ph type="ctrTitle"/>
          </p:nvPr>
        </p:nvSpPr>
        <p:spPr>
          <a:xfrm>
            <a:off x="599107" y="990592"/>
            <a:ext cx="11054615" cy="5523224"/>
          </a:xfrm>
        </p:spPr>
        <p:txBody>
          <a:bodyPr anchor="t">
            <a:noAutofit/>
          </a:bodyPr>
          <a:lstStyle/>
          <a:p>
            <a:br>
              <a:rPr lang="en-US" sz="2000" b="0" i="0" dirty="0">
                <a:solidFill>
                  <a:schemeClr val="accent6"/>
                </a:solidFill>
                <a:effectLst/>
                <a:latin typeface="Consolas" panose="020B0609020204030204" pitchFamily="49" charset="0"/>
              </a:rPr>
            </a:br>
            <a:br>
              <a:rPr lang="en-US" sz="2000" b="0" i="0" dirty="0">
                <a:solidFill>
                  <a:schemeClr val="accent6"/>
                </a:solidFill>
                <a:effectLst/>
                <a:latin typeface="Consolas" panose="020B0609020204030204" pitchFamily="49" charset="0"/>
              </a:rPr>
            </a:br>
            <a:endParaRPr lang="en-KE" sz="2000" b="1" dirty="0">
              <a:solidFill>
                <a:schemeClr val="tx1">
                  <a:lumMod val="95000"/>
                </a:schemeClr>
              </a:solidFill>
            </a:endParaRPr>
          </a:p>
        </p:txBody>
      </p:sp>
      <p:sp>
        <p:nvSpPr>
          <p:cNvPr id="6" name="Subtitle 5">
            <a:extLst>
              <a:ext uri="{FF2B5EF4-FFF2-40B4-BE49-F238E27FC236}">
                <a16:creationId xmlns:a16="http://schemas.microsoft.com/office/drawing/2014/main" id="{E1D3F4D6-9A4A-7FB1-915D-22C63133C885}"/>
              </a:ext>
            </a:extLst>
          </p:cNvPr>
          <p:cNvSpPr>
            <a:spLocks noGrp="1"/>
          </p:cNvSpPr>
          <p:nvPr>
            <p:ph type="subTitle" idx="1"/>
          </p:nvPr>
        </p:nvSpPr>
        <p:spPr>
          <a:xfrm>
            <a:off x="599107" y="158385"/>
            <a:ext cx="6402572" cy="673822"/>
          </a:xfrm>
        </p:spPr>
        <p:txBody>
          <a:bodyPr anchor="b">
            <a:normAutofit/>
          </a:bodyPr>
          <a:lstStyle/>
          <a:p>
            <a:r>
              <a:rPr lang="en-GB" sz="2800" dirty="0">
                <a:solidFill>
                  <a:srgbClr val="FFFFFF"/>
                </a:solidFill>
                <a:latin typeface="Times New Roman" panose="02020603050405020304" pitchFamily="18" charset="0"/>
                <a:cs typeface="Times New Roman" panose="02020603050405020304" pitchFamily="18" charset="0"/>
              </a:rPr>
              <a:t>MODEL EVALUATION</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846C0B67-E98E-0A83-BA8A-B0D6AADA08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5F24BC40-96E2-BBE4-EFF5-428600531351}"/>
              </a:ext>
            </a:extLst>
          </p:cNvPr>
          <p:cNvPicPr>
            <a:picLocks noChangeAspect="1"/>
          </p:cNvPicPr>
          <p:nvPr/>
        </p:nvPicPr>
        <p:blipFill>
          <a:blip r:embed="rId4">
            <a:alphaModFix amt="85000"/>
          </a:blip>
          <a:stretch>
            <a:fillRect/>
          </a:stretch>
        </p:blipFill>
        <p:spPr>
          <a:xfrm>
            <a:off x="718052" y="1482817"/>
            <a:ext cx="10010908" cy="5071408"/>
          </a:xfrm>
          <a:prstGeom prst="rect">
            <a:avLst/>
          </a:prstGeom>
        </p:spPr>
      </p:pic>
    </p:spTree>
    <p:extLst>
      <p:ext uri="{BB962C8B-B14F-4D97-AF65-F5344CB8AC3E}">
        <p14:creationId xmlns:p14="http://schemas.microsoft.com/office/powerpoint/2010/main" val="480916224"/>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E5DF16FB-938E-B20B-C510-362EA5F89265}"/>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8E0E0C3-F0B6-BF62-C5AC-4B1A0B6F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53904662-8424-927D-462E-69B6C33284A9}"/>
              </a:ext>
            </a:extLst>
          </p:cNvPr>
          <p:cNvPicPr>
            <a:picLocks noChangeAspect="1"/>
          </p:cNvPicPr>
          <p:nvPr/>
        </p:nvPicPr>
        <p:blipFill>
          <a:blip r:embed="rId2">
            <a:alphaModFix amt="20000"/>
          </a:blip>
          <a:srcRect t="20113" b="4888"/>
          <a:stretch/>
        </p:blipFill>
        <p:spPr>
          <a:xfrm>
            <a:off x="-406"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4A498277-DD46-DBB1-1702-1A89D3178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4C2E7D25-3031-60B9-5392-BB8E5B543034}"/>
              </a:ext>
            </a:extLst>
          </p:cNvPr>
          <p:cNvSpPr>
            <a:spLocks noGrp="1"/>
          </p:cNvSpPr>
          <p:nvPr>
            <p:ph type="ctrTitle"/>
          </p:nvPr>
        </p:nvSpPr>
        <p:spPr>
          <a:xfrm>
            <a:off x="599107" y="990592"/>
            <a:ext cx="11054615" cy="5523224"/>
          </a:xfrm>
        </p:spPr>
        <p:txBody>
          <a:bodyPr anchor="t">
            <a:noAutofit/>
          </a:bodyPr>
          <a:lstStyle/>
          <a:p>
            <a:br>
              <a:rPr lang="en-US" sz="2000" b="0" i="0">
                <a:solidFill>
                  <a:schemeClr val="accent6"/>
                </a:solidFill>
                <a:effectLst/>
                <a:latin typeface="Consolas" panose="020B0609020204030204" pitchFamily="49" charset="0"/>
              </a:rPr>
            </a:br>
            <a:br>
              <a:rPr lang="en-US" sz="2000" b="0" i="0">
                <a:solidFill>
                  <a:schemeClr val="accent6"/>
                </a:solidFill>
                <a:effectLst/>
                <a:latin typeface="Consolas" panose="020B0609020204030204" pitchFamily="49" charset="0"/>
              </a:rPr>
            </a:br>
            <a:endParaRPr lang="en-KE" sz="2000" b="1" dirty="0">
              <a:solidFill>
                <a:schemeClr val="tx1">
                  <a:lumMod val="95000"/>
                </a:schemeClr>
              </a:solidFill>
            </a:endParaRPr>
          </a:p>
        </p:txBody>
      </p:sp>
      <p:sp>
        <p:nvSpPr>
          <p:cNvPr id="6" name="Subtitle 5">
            <a:extLst>
              <a:ext uri="{FF2B5EF4-FFF2-40B4-BE49-F238E27FC236}">
                <a16:creationId xmlns:a16="http://schemas.microsoft.com/office/drawing/2014/main" id="{D0307C3D-1957-30DC-A6C6-04BC0EF1E363}"/>
              </a:ext>
            </a:extLst>
          </p:cNvPr>
          <p:cNvSpPr>
            <a:spLocks noGrp="1"/>
          </p:cNvSpPr>
          <p:nvPr>
            <p:ph type="subTitle" idx="1"/>
          </p:nvPr>
        </p:nvSpPr>
        <p:spPr>
          <a:xfrm>
            <a:off x="599107" y="158385"/>
            <a:ext cx="6402572" cy="673822"/>
          </a:xfrm>
        </p:spPr>
        <p:txBody>
          <a:bodyPr anchor="b">
            <a:normAutofit/>
          </a:bodyPr>
          <a:lstStyle/>
          <a:p>
            <a:r>
              <a:rPr lang="en-GB" sz="2800">
                <a:solidFill>
                  <a:srgbClr val="FFFFFF"/>
                </a:solidFill>
                <a:latin typeface="Times New Roman" panose="02020603050405020304" pitchFamily="18" charset="0"/>
                <a:cs typeface="Times New Roman" panose="02020603050405020304" pitchFamily="18" charset="0"/>
              </a:rPr>
              <a:t>MODEL EVALUATION</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D1C2CFA3-1BB9-A409-BA24-B89093C45E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2" name="Content Placeholder 4">
            <a:extLst>
              <a:ext uri="{FF2B5EF4-FFF2-40B4-BE49-F238E27FC236}">
                <a16:creationId xmlns:a16="http://schemas.microsoft.com/office/drawing/2014/main" id="{0B870C18-9CB8-783F-6A2F-1A6D2EDC8EA2}"/>
              </a:ext>
            </a:extLst>
          </p:cNvPr>
          <p:cNvPicPr>
            <a:picLocks noChangeAspect="1"/>
          </p:cNvPicPr>
          <p:nvPr/>
        </p:nvPicPr>
        <p:blipFill>
          <a:blip r:embed="rId4"/>
          <a:stretch>
            <a:fillRect/>
          </a:stretch>
        </p:blipFill>
        <p:spPr>
          <a:xfrm>
            <a:off x="439933" y="942856"/>
            <a:ext cx="9902948" cy="5618696"/>
          </a:xfrm>
          <a:prstGeom prst="rect">
            <a:avLst/>
          </a:prstGeom>
        </p:spPr>
      </p:pic>
    </p:spTree>
    <p:extLst>
      <p:ext uri="{BB962C8B-B14F-4D97-AF65-F5344CB8AC3E}">
        <p14:creationId xmlns:p14="http://schemas.microsoft.com/office/powerpoint/2010/main" val="3074012539"/>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48221169-83A3-4723-C22F-EF4C69331CEC}"/>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342DC5F-405D-3F3E-30BF-07773D502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D98DC84E-4AA8-1479-547A-47062089D318}"/>
              </a:ext>
            </a:extLst>
          </p:cNvPr>
          <p:cNvPicPr>
            <a:picLocks noChangeAspect="1"/>
          </p:cNvPicPr>
          <p:nvPr/>
        </p:nvPicPr>
        <p:blipFill>
          <a:blip r:embed="rId2">
            <a:alphaModFix amt="20000"/>
          </a:blip>
          <a:srcRect t="20113" b="4888"/>
          <a:stretch/>
        </p:blipFill>
        <p:spPr>
          <a:xfrm>
            <a:off x="-406"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504D86E3-6A36-FCE5-8CD7-2BF501A81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5">
            <a:extLst>
              <a:ext uri="{FF2B5EF4-FFF2-40B4-BE49-F238E27FC236}">
                <a16:creationId xmlns:a16="http://schemas.microsoft.com/office/drawing/2014/main" id="{816BB225-A623-D399-6EC4-3579C09D414D}"/>
              </a:ext>
            </a:extLst>
          </p:cNvPr>
          <p:cNvSpPr>
            <a:spLocks noGrp="1"/>
          </p:cNvSpPr>
          <p:nvPr>
            <p:ph type="subTitle" idx="1"/>
          </p:nvPr>
        </p:nvSpPr>
        <p:spPr>
          <a:xfrm>
            <a:off x="283471" y="473075"/>
            <a:ext cx="6402572" cy="577031"/>
          </a:xfrm>
        </p:spPr>
        <p:txBody>
          <a:bodyPr anchor="b">
            <a:normAutofit lnSpcReduction="10000"/>
          </a:bodyPr>
          <a:lstStyle/>
          <a:p>
            <a:r>
              <a:rPr lang="en-GB" sz="2800" dirty="0">
                <a:solidFill>
                  <a:srgbClr val="FFFFFF"/>
                </a:solidFill>
                <a:latin typeface="Times New Roman" panose="02020603050405020304" pitchFamily="18" charset="0"/>
                <a:cs typeface="Times New Roman" panose="02020603050405020304" pitchFamily="18" charset="0"/>
              </a:rPr>
              <a:t>Feature Importance</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E792973B-2C6B-2733-C9F8-6BEE9B9C3A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2" name="Rectangle 8">
            <a:extLst>
              <a:ext uri="{FF2B5EF4-FFF2-40B4-BE49-F238E27FC236}">
                <a16:creationId xmlns:a16="http://schemas.microsoft.com/office/drawing/2014/main" id="{9AD6F814-E4CF-E317-0146-DFB6564A1519}"/>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
        <p:nvSpPr>
          <p:cNvPr id="13" name="Rectangle 9">
            <a:extLst>
              <a:ext uri="{FF2B5EF4-FFF2-40B4-BE49-F238E27FC236}">
                <a16:creationId xmlns:a16="http://schemas.microsoft.com/office/drawing/2014/main" id="{30BC54A9-7F30-2C25-83BD-89CE7E2F6B8D}"/>
              </a:ext>
            </a:extLst>
          </p:cNvPr>
          <p:cNvSpPr>
            <a:spLocks noChangeArrowheads="1"/>
          </p:cNvSpPr>
          <p:nvPr/>
        </p:nvSpPr>
        <p:spPr bwMode="auto">
          <a:xfrm>
            <a:off x="0" y="4730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pic>
        <p:nvPicPr>
          <p:cNvPr id="3" name="Picture 2" descr="Distance to road , within no disturbance of settlement show sensitivity to existing pipelines ">
            <a:extLst>
              <a:ext uri="{FF2B5EF4-FFF2-40B4-BE49-F238E27FC236}">
                <a16:creationId xmlns:a16="http://schemas.microsoft.com/office/drawing/2014/main" id="{68D8F7BC-AA58-1915-CC6B-E975C96B97DB}"/>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7483" y="1254361"/>
            <a:ext cx="7525800" cy="4572638"/>
          </a:xfrm>
          <a:prstGeom prst="rect">
            <a:avLst/>
          </a:prstGeom>
        </p:spPr>
      </p:pic>
      <p:sp>
        <p:nvSpPr>
          <p:cNvPr id="7" name="TextBox 6">
            <a:extLst>
              <a:ext uri="{FF2B5EF4-FFF2-40B4-BE49-F238E27FC236}">
                <a16:creationId xmlns:a16="http://schemas.microsoft.com/office/drawing/2014/main" id="{EDCBE44D-A792-C0AC-7D6D-2E975E37185C}"/>
              </a:ext>
            </a:extLst>
          </p:cNvPr>
          <p:cNvSpPr txBox="1"/>
          <p:nvPr/>
        </p:nvSpPr>
        <p:spPr>
          <a:xfrm>
            <a:off x="1076688" y="5966419"/>
            <a:ext cx="9416426" cy="369332"/>
          </a:xfrm>
          <a:prstGeom prst="rect">
            <a:avLst/>
          </a:prstGeom>
          <a:noFill/>
        </p:spPr>
        <p:txBody>
          <a:bodyPr wrap="square">
            <a:spAutoFit/>
          </a:bodyPr>
          <a:lstStyle/>
          <a:p>
            <a:r>
              <a:rPr lang="en-KE" dirty="0"/>
              <a:t>Distance to road , within no disturbance of settlement show sensitivity to existing pipelines </a:t>
            </a:r>
          </a:p>
        </p:txBody>
      </p:sp>
    </p:spTree>
    <p:extLst>
      <p:ext uri="{BB962C8B-B14F-4D97-AF65-F5344CB8AC3E}">
        <p14:creationId xmlns:p14="http://schemas.microsoft.com/office/powerpoint/2010/main" val="4026435647"/>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0A56970A-7982-CB31-3EA9-FBA8FA63757F}"/>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9A9D11A-7AF4-C32F-12A7-018A5765E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C202D0C8-5BCD-85C3-64B7-EBB7E6B6207A}"/>
              </a:ext>
            </a:extLst>
          </p:cNvPr>
          <p:cNvPicPr>
            <a:picLocks noChangeAspect="1"/>
          </p:cNvPicPr>
          <p:nvPr/>
        </p:nvPicPr>
        <p:blipFill>
          <a:blip r:embed="rId2">
            <a:alphaModFix amt="20000"/>
          </a:blip>
          <a:srcRect t="20113" b="4888"/>
          <a:stretch/>
        </p:blipFill>
        <p:spPr>
          <a:xfrm>
            <a:off x="-406"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B3605F15-9C00-7974-8375-106933DE46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BCB0A7D5-F280-9F1C-F43E-25A15C0D59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2" name="Rectangle 8">
            <a:extLst>
              <a:ext uri="{FF2B5EF4-FFF2-40B4-BE49-F238E27FC236}">
                <a16:creationId xmlns:a16="http://schemas.microsoft.com/office/drawing/2014/main" id="{95555563-C2E8-6CAD-2003-2983BE9D7482}"/>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
        <p:nvSpPr>
          <p:cNvPr id="13" name="Rectangle 9">
            <a:extLst>
              <a:ext uri="{FF2B5EF4-FFF2-40B4-BE49-F238E27FC236}">
                <a16:creationId xmlns:a16="http://schemas.microsoft.com/office/drawing/2014/main" id="{E9EE81A8-5C35-4CF1-C74E-88223303EA01}"/>
              </a:ext>
            </a:extLst>
          </p:cNvPr>
          <p:cNvSpPr>
            <a:spLocks noChangeArrowheads="1"/>
          </p:cNvSpPr>
          <p:nvPr/>
        </p:nvSpPr>
        <p:spPr bwMode="auto">
          <a:xfrm>
            <a:off x="0" y="4730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pic>
        <p:nvPicPr>
          <p:cNvPr id="2" name="Picture 1">
            <a:extLst>
              <a:ext uri="{FF2B5EF4-FFF2-40B4-BE49-F238E27FC236}">
                <a16:creationId xmlns:a16="http://schemas.microsoft.com/office/drawing/2014/main" id="{DDFC2988-93E1-04C3-8610-CE95A459D976}"/>
              </a:ext>
            </a:extLst>
          </p:cNvPr>
          <p:cNvPicPr>
            <a:picLocks noChangeAspect="1"/>
          </p:cNvPicPr>
          <p:nvPr/>
        </p:nvPicPr>
        <p:blipFill>
          <a:blip r:embed="rId4">
            <a:extLst>
              <a:ext uri="{28A0092B-C50C-407E-A947-70E740481C1C}">
                <a14:useLocalDpi xmlns:a14="http://schemas.microsoft.com/office/drawing/2010/main" val="0"/>
              </a:ext>
            </a:extLst>
          </a:blip>
          <a:srcRect l="15862" t="3464" r="2" b="2"/>
          <a:stretch/>
        </p:blipFill>
        <p:spPr>
          <a:xfrm>
            <a:off x="1529921" y="1290855"/>
            <a:ext cx="8323942" cy="5502686"/>
          </a:xfrm>
          <a:prstGeom prst="rect">
            <a:avLst/>
          </a:prstGeom>
        </p:spPr>
      </p:pic>
      <p:sp>
        <p:nvSpPr>
          <p:cNvPr id="16" name="Subtitle 15">
            <a:extLst>
              <a:ext uri="{FF2B5EF4-FFF2-40B4-BE49-F238E27FC236}">
                <a16:creationId xmlns:a16="http://schemas.microsoft.com/office/drawing/2014/main" id="{021DB209-D094-5464-C105-43B62ACD096B}"/>
              </a:ext>
            </a:extLst>
          </p:cNvPr>
          <p:cNvSpPr>
            <a:spLocks noGrp="1"/>
          </p:cNvSpPr>
          <p:nvPr>
            <p:ph type="subTitle" idx="1"/>
          </p:nvPr>
        </p:nvSpPr>
        <p:spPr>
          <a:xfrm>
            <a:off x="625160" y="488950"/>
            <a:ext cx="11160439" cy="995283"/>
          </a:xfrm>
        </p:spPr>
        <p:txBody>
          <a:bodyPr>
            <a:normAutofit fontScale="850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54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Map shows new test route  pipeline in Turkana</a:t>
            </a:r>
            <a:endParaRPr kumimoji="0" lang="en-KE" sz="1800" b="0" i="0" u="none" strike="noStrike" kern="1200" cap="none" spc="0" normalizeH="0" baseline="0" noProof="0" dirty="0">
              <a:ln>
                <a:noFill/>
              </a:ln>
              <a:solidFill>
                <a:prstClr val="white"/>
              </a:solidFill>
              <a:effectLst/>
              <a:uLnTx/>
              <a:uFillTx/>
              <a:latin typeface="Grandview Display"/>
              <a:ea typeface="+mn-ea"/>
              <a:cs typeface="+mn-cs"/>
            </a:endParaRPr>
          </a:p>
          <a:p>
            <a:endParaRPr lang="en-KE" dirty="0"/>
          </a:p>
        </p:txBody>
      </p:sp>
    </p:spTree>
    <p:extLst>
      <p:ext uri="{BB962C8B-B14F-4D97-AF65-F5344CB8AC3E}">
        <p14:creationId xmlns:p14="http://schemas.microsoft.com/office/powerpoint/2010/main" val="366231066"/>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8F056A0B-0327-5982-95C1-92A064C8A2AA}"/>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8BB1259-6FD9-1A12-A1F0-964D4356C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C39CEFCF-D5D9-7ABD-B908-367A4B6108BB}"/>
              </a:ext>
            </a:extLst>
          </p:cNvPr>
          <p:cNvPicPr>
            <a:picLocks noChangeAspect="1"/>
          </p:cNvPicPr>
          <p:nvPr/>
        </p:nvPicPr>
        <p:blipFill>
          <a:blip r:embed="rId2">
            <a:alphaModFix amt="20000"/>
          </a:blip>
          <a:srcRect t="20113" b="4888"/>
          <a:stretch/>
        </p:blipFill>
        <p:spPr>
          <a:xfrm>
            <a:off x="-406"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10892137-2D90-3A0F-4540-470B7C8E4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5">
            <a:extLst>
              <a:ext uri="{FF2B5EF4-FFF2-40B4-BE49-F238E27FC236}">
                <a16:creationId xmlns:a16="http://schemas.microsoft.com/office/drawing/2014/main" id="{DA7D2F5F-5E3D-2EBD-6D8F-CAC14A4FC346}"/>
              </a:ext>
            </a:extLst>
          </p:cNvPr>
          <p:cNvSpPr>
            <a:spLocks noGrp="1"/>
          </p:cNvSpPr>
          <p:nvPr>
            <p:ph type="subTitle" idx="1"/>
          </p:nvPr>
        </p:nvSpPr>
        <p:spPr>
          <a:xfrm>
            <a:off x="568285" y="533330"/>
            <a:ext cx="6402572" cy="1287887"/>
          </a:xfrm>
        </p:spPr>
        <p:txBody>
          <a:bodyPr anchor="b">
            <a:normAutofit/>
          </a:bodyPr>
          <a:lstStyle/>
          <a:p>
            <a:r>
              <a:rPr lang="en-GB" sz="2800" dirty="0">
                <a:solidFill>
                  <a:srgbClr val="FFFFFF"/>
                </a:solidFill>
                <a:latin typeface="Times New Roman" panose="02020603050405020304" pitchFamily="18" charset="0"/>
                <a:cs typeface="Times New Roman" panose="02020603050405020304" pitchFamily="18" charset="0"/>
              </a:rPr>
              <a:t>DEPLOYMENT</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4E9B7E48-5033-6E4D-B591-7104C80A42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1" name="Rectangle 7">
            <a:extLst>
              <a:ext uri="{FF2B5EF4-FFF2-40B4-BE49-F238E27FC236}">
                <a16:creationId xmlns:a16="http://schemas.microsoft.com/office/drawing/2014/main" id="{8D6B5505-D517-734D-D1F5-64AEDA24F368}"/>
              </a:ext>
            </a:extLst>
          </p:cNvPr>
          <p:cNvSpPr>
            <a:spLocks noChangeArrowheads="1"/>
          </p:cNvSpPr>
          <p:nvPr/>
        </p:nvSpPr>
        <p:spPr bwMode="auto">
          <a:xfrm>
            <a:off x="563348" y="1960415"/>
            <a:ext cx="9860812"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KE"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will be deployed </a:t>
            </a:r>
            <a:r>
              <a:rPr kumimoji="0" lang="en-GB"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a:t>
            </a:r>
            <a:r>
              <a:rPr kumimoji="0" lang="en-KE" altLang="en-KE"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GB" altLang="en-KE" sz="2000" dirty="0" err="1">
                <a:latin typeface="Times New Roman" panose="02020603050405020304" pitchFamily="18" charset="0"/>
                <a:cs typeface="Times New Roman" panose="02020603050405020304" pitchFamily="18" charset="0"/>
              </a:rPr>
              <a:t>Streamlit</a:t>
            </a:r>
            <a:r>
              <a:rPr lang="en-GB" altLang="en-KE" sz="2000" dirty="0">
                <a:latin typeface="Times New Roman" panose="02020603050405020304" pitchFamily="18" charset="0"/>
                <a:cs typeface="Times New Roman" panose="02020603050405020304" pitchFamily="18" charset="0"/>
              </a:rPr>
              <a:t> App</a:t>
            </a:r>
            <a:r>
              <a:rPr kumimoji="0" lang="en-KE"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where users can: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KE"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Upload or select a pipeline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KE"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 pipeline on a map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KE"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See predicted environmental risk</a:t>
            </a:r>
          </a:p>
          <a:p>
            <a:pPr marL="0" marR="0" lvl="0" indent="0" algn="l" defTabSz="914400" rtl="0" eaLnBrk="0" fontAlgn="base" latinLnBrk="0" hangingPunct="0">
              <a:lnSpc>
                <a:spcPct val="100000"/>
              </a:lnSpc>
              <a:spcBef>
                <a:spcPct val="0"/>
              </a:spcBef>
              <a:spcAft>
                <a:spcPct val="0"/>
              </a:spcAft>
              <a:buClrTx/>
              <a:buSzTx/>
              <a:buFontTx/>
              <a:buNone/>
              <a:tabLst/>
            </a:pPr>
            <a:r>
              <a:rPr kumimoji="0" lang="en-KE"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a:t>
            </a:r>
            <a:r>
              <a:rPr kumimoji="0" lang="en-GB"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KE" altLang="en-KE"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also include visual overlays of sensitive zones for context.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KE" altLang="en-KE" sz="1800" b="0" i="0" u="none" strike="noStrike" cap="none" normalizeH="0" baseline="0" dirty="0">
              <a:ln>
                <a:noFill/>
              </a:ln>
              <a:solidFill>
                <a:schemeClr val="tx1"/>
              </a:solidFill>
              <a:effectLst/>
              <a:latin typeface="Arial" panose="020B0604020202020204" pitchFamily="34" charset="0"/>
            </a:endParaRPr>
          </a:p>
        </p:txBody>
      </p:sp>
      <p:sp>
        <p:nvSpPr>
          <p:cNvPr id="12" name="Rectangle 8">
            <a:extLst>
              <a:ext uri="{FF2B5EF4-FFF2-40B4-BE49-F238E27FC236}">
                <a16:creationId xmlns:a16="http://schemas.microsoft.com/office/drawing/2014/main" id="{5F42B4A4-3968-12C1-4634-A5857AD35B8C}"/>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
        <p:nvSpPr>
          <p:cNvPr id="13" name="Rectangle 9">
            <a:extLst>
              <a:ext uri="{FF2B5EF4-FFF2-40B4-BE49-F238E27FC236}">
                <a16:creationId xmlns:a16="http://schemas.microsoft.com/office/drawing/2014/main" id="{435FA5F2-0BB0-5631-2685-209CCCDC4113}"/>
              </a:ext>
            </a:extLst>
          </p:cNvPr>
          <p:cNvSpPr>
            <a:spLocks noChangeArrowheads="1"/>
          </p:cNvSpPr>
          <p:nvPr/>
        </p:nvSpPr>
        <p:spPr bwMode="auto">
          <a:xfrm>
            <a:off x="0" y="4730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Tree>
    <p:extLst>
      <p:ext uri="{BB962C8B-B14F-4D97-AF65-F5344CB8AC3E}">
        <p14:creationId xmlns:p14="http://schemas.microsoft.com/office/powerpoint/2010/main" val="1834010965"/>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E1027DE0-2A30-A8BE-CDDB-28577EC739EA}"/>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6FD12A7-AE2E-CB1B-554A-1AB80BE9CB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981DF782-7A6F-F14B-CD7C-B2886CE73513}"/>
              </a:ext>
            </a:extLst>
          </p:cNvPr>
          <p:cNvPicPr>
            <a:picLocks noChangeAspect="1"/>
          </p:cNvPicPr>
          <p:nvPr/>
        </p:nvPicPr>
        <p:blipFill>
          <a:blip r:embed="rId2">
            <a:alphaModFix amt="20000"/>
          </a:blip>
          <a:srcRect t="20113" b="4888"/>
          <a:stretch/>
        </p:blipFill>
        <p:spPr>
          <a:xfrm>
            <a:off x="2"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2736AD5C-5161-7BA1-8904-3A17F79FF0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5">
            <a:extLst>
              <a:ext uri="{FF2B5EF4-FFF2-40B4-BE49-F238E27FC236}">
                <a16:creationId xmlns:a16="http://schemas.microsoft.com/office/drawing/2014/main" id="{D8EBB486-83B3-7E15-E8D4-1B3837F314F8}"/>
              </a:ext>
            </a:extLst>
          </p:cNvPr>
          <p:cNvSpPr>
            <a:spLocks noGrp="1"/>
          </p:cNvSpPr>
          <p:nvPr>
            <p:ph type="subTitle" idx="1"/>
          </p:nvPr>
        </p:nvSpPr>
        <p:spPr>
          <a:xfrm>
            <a:off x="562940" y="457200"/>
            <a:ext cx="6402572" cy="1287887"/>
          </a:xfrm>
        </p:spPr>
        <p:txBody>
          <a:bodyPr anchor="b">
            <a:normAutofit/>
          </a:bodyPr>
          <a:lstStyle/>
          <a:p>
            <a:r>
              <a:rPr lang="en-GB" sz="2800" dirty="0">
                <a:solidFill>
                  <a:srgbClr val="FFFFFF"/>
                </a:solidFill>
                <a:latin typeface="Times New Roman" panose="02020603050405020304" pitchFamily="18" charset="0"/>
                <a:cs typeface="Times New Roman" panose="02020603050405020304" pitchFamily="18" charset="0"/>
              </a:rPr>
              <a:t>Recommendations</a:t>
            </a:r>
          </a:p>
          <a:p>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B39F7C85-389B-839C-2BE5-092194AD13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2" name="Rectangle 8">
            <a:extLst>
              <a:ext uri="{FF2B5EF4-FFF2-40B4-BE49-F238E27FC236}">
                <a16:creationId xmlns:a16="http://schemas.microsoft.com/office/drawing/2014/main" id="{FE54DA43-4F91-00D5-21E4-D3846F81F8B0}"/>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
        <p:nvSpPr>
          <p:cNvPr id="13" name="Rectangle 9">
            <a:extLst>
              <a:ext uri="{FF2B5EF4-FFF2-40B4-BE49-F238E27FC236}">
                <a16:creationId xmlns:a16="http://schemas.microsoft.com/office/drawing/2014/main" id="{F7463E5E-CC05-79F2-CBBC-493818346645}"/>
              </a:ext>
            </a:extLst>
          </p:cNvPr>
          <p:cNvSpPr>
            <a:spLocks noChangeArrowheads="1"/>
          </p:cNvSpPr>
          <p:nvPr/>
        </p:nvSpPr>
        <p:spPr bwMode="auto">
          <a:xfrm>
            <a:off x="0" y="4730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
        <p:nvSpPr>
          <p:cNvPr id="3" name="TextBox 2">
            <a:extLst>
              <a:ext uri="{FF2B5EF4-FFF2-40B4-BE49-F238E27FC236}">
                <a16:creationId xmlns:a16="http://schemas.microsoft.com/office/drawing/2014/main" id="{BB97EF7D-C788-D44C-83F5-868DE748EA59}"/>
              </a:ext>
            </a:extLst>
          </p:cNvPr>
          <p:cNvSpPr txBox="1"/>
          <p:nvPr/>
        </p:nvSpPr>
        <p:spPr>
          <a:xfrm>
            <a:off x="562940" y="1281820"/>
            <a:ext cx="11211244" cy="4093428"/>
          </a:xfrm>
          <a:prstGeom prst="rect">
            <a:avLst/>
          </a:prstGeom>
          <a:noFill/>
        </p:spPr>
        <p:txBody>
          <a:bodyPr wrap="square">
            <a:spAutoFit/>
          </a:bodyPr>
          <a:lstStyle/>
          <a:p>
            <a:pPr>
              <a:buNone/>
            </a:pPr>
            <a:r>
              <a:rPr lang="en-GB" sz="2000" b="1" dirty="0">
                <a:latin typeface="Times New Roman" panose="02020603050405020304" pitchFamily="18" charset="0"/>
                <a:cs typeface="Times New Roman" panose="02020603050405020304" pitchFamily="18" charset="0"/>
              </a:rPr>
              <a:t>Ecological Sites</a:t>
            </a:r>
            <a:endParaRPr lang="en-GB"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Focus on high-impact parks (e.g., Nairobi NP, Tsavo East)</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Apply buffer zones to protect wildlife corridors</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Collaborate with operators on eco-compliant routing</a:t>
            </a:r>
          </a:p>
          <a:p>
            <a:endParaRPr lang="en-GB" sz="2000" dirty="0">
              <a:latin typeface="Times New Roman" panose="02020603050405020304" pitchFamily="18" charset="0"/>
              <a:cs typeface="Times New Roman" panose="02020603050405020304" pitchFamily="18" charset="0"/>
            </a:endParaRPr>
          </a:p>
          <a:p>
            <a:pPr>
              <a:buNone/>
            </a:pPr>
            <a:r>
              <a:rPr lang="en-GB" sz="2000" b="1" dirty="0">
                <a:latin typeface="Times New Roman" panose="02020603050405020304" pitchFamily="18" charset="0"/>
                <a:cs typeface="Times New Roman" panose="02020603050405020304" pitchFamily="18" charset="0"/>
              </a:rPr>
              <a:t>Curvature &amp; Stress Points</a:t>
            </a:r>
            <a:endParaRPr lang="en-GB"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Redesign segments with extreme angles or high curvature</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Reinforce or realign high-risk pipeline curves</a:t>
            </a:r>
          </a:p>
          <a:p>
            <a:endParaRPr lang="en-GB" sz="2000" dirty="0">
              <a:latin typeface="Times New Roman" panose="02020603050405020304" pitchFamily="18" charset="0"/>
              <a:cs typeface="Times New Roman" panose="02020603050405020304" pitchFamily="18" charset="0"/>
            </a:endParaRPr>
          </a:p>
          <a:p>
            <a:pPr>
              <a:buNone/>
            </a:pPr>
            <a:r>
              <a:rPr lang="en-GB" sz="2000" b="1" dirty="0">
                <a:latin typeface="Times New Roman" panose="02020603050405020304" pitchFamily="18" charset="0"/>
                <a:cs typeface="Times New Roman" panose="02020603050405020304" pitchFamily="18" charset="0"/>
              </a:rPr>
              <a:t>Expert Review</a:t>
            </a:r>
            <a:endParaRPr lang="en-GB"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Prioritize high-risk intersections with roads and parks</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Conduct targeted field evaluations and adjustments</a:t>
            </a:r>
          </a:p>
          <a:p>
            <a:endParaRPr lang="en-KE" sz="2000" dirty="0"/>
          </a:p>
        </p:txBody>
      </p:sp>
    </p:spTree>
    <p:extLst>
      <p:ext uri="{BB962C8B-B14F-4D97-AF65-F5344CB8AC3E}">
        <p14:creationId xmlns:p14="http://schemas.microsoft.com/office/powerpoint/2010/main" val="182846064"/>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607F8211-C0DE-BE40-8FA5-91B55F84B9B1}"/>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DA72885-A43F-3128-C506-F8E6FCF64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A15CBE24-5B8A-CFA8-F951-BFEF3EFB427B}"/>
              </a:ext>
            </a:extLst>
          </p:cNvPr>
          <p:cNvPicPr>
            <a:picLocks noChangeAspect="1"/>
          </p:cNvPicPr>
          <p:nvPr/>
        </p:nvPicPr>
        <p:blipFill>
          <a:blip r:embed="rId2">
            <a:alphaModFix amt="20000"/>
          </a:blip>
          <a:srcRect t="20113" b="4888"/>
          <a:stretch/>
        </p:blipFill>
        <p:spPr>
          <a:xfrm>
            <a:off x="2" y="152"/>
            <a:ext cx="12191998" cy="6857848"/>
          </a:xfrm>
          <a:prstGeom prst="rect">
            <a:avLst/>
          </a:prstGeom>
          <a:blipFill dpi="0" rotWithShape="1">
            <a:blip r:embed="rId3">
              <a:alphaModFix amt="20000"/>
            </a:blip>
            <a:srcRect/>
            <a:tile tx="0" ty="0" sx="100000" sy="100000" flip="none" algn="tl"/>
          </a:blipFill>
        </p:spPr>
      </p:pic>
      <p:sp>
        <p:nvSpPr>
          <p:cNvPr id="25" name="Rectangle 24">
            <a:extLst>
              <a:ext uri="{FF2B5EF4-FFF2-40B4-BE49-F238E27FC236}">
                <a16:creationId xmlns:a16="http://schemas.microsoft.com/office/drawing/2014/main" id="{56D5F66C-8805-1087-7CEC-0EEE087BE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5">
            <a:extLst>
              <a:ext uri="{FF2B5EF4-FFF2-40B4-BE49-F238E27FC236}">
                <a16:creationId xmlns:a16="http://schemas.microsoft.com/office/drawing/2014/main" id="{78A07051-0E4C-4FEE-C579-72B647BBF92F}"/>
              </a:ext>
            </a:extLst>
          </p:cNvPr>
          <p:cNvSpPr>
            <a:spLocks noGrp="1"/>
          </p:cNvSpPr>
          <p:nvPr>
            <p:ph type="subTitle" idx="1"/>
          </p:nvPr>
        </p:nvSpPr>
        <p:spPr>
          <a:xfrm>
            <a:off x="379599" y="438586"/>
            <a:ext cx="3074802" cy="667461"/>
          </a:xfrm>
        </p:spPr>
        <p:txBody>
          <a:bodyPr anchor="b">
            <a:normAutofit/>
          </a:bodyPr>
          <a:lstStyle/>
          <a:p>
            <a:r>
              <a:rPr lang="en-GB" sz="2800" dirty="0">
                <a:solidFill>
                  <a:srgbClr val="FFFFFF"/>
                </a:solidFill>
                <a:latin typeface="Times New Roman" panose="02020603050405020304" pitchFamily="18" charset="0"/>
                <a:cs typeface="Times New Roman" panose="02020603050405020304" pitchFamily="18" charset="0"/>
              </a:rPr>
              <a:t>Conclusion</a:t>
            </a:r>
            <a:endParaRPr lang="en-KE" sz="2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E2263F8F-B172-65F4-5A25-581FD48B58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2" name="Rectangle 8">
            <a:extLst>
              <a:ext uri="{FF2B5EF4-FFF2-40B4-BE49-F238E27FC236}">
                <a16:creationId xmlns:a16="http://schemas.microsoft.com/office/drawing/2014/main" id="{7805054B-BC3F-3D8B-84C7-EC82DF5EF7BE}"/>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
        <p:nvSpPr>
          <p:cNvPr id="13" name="Rectangle 9">
            <a:extLst>
              <a:ext uri="{FF2B5EF4-FFF2-40B4-BE49-F238E27FC236}">
                <a16:creationId xmlns:a16="http://schemas.microsoft.com/office/drawing/2014/main" id="{40726FAF-DCE8-FAC9-93A7-CA8BB301095E}"/>
              </a:ext>
            </a:extLst>
          </p:cNvPr>
          <p:cNvSpPr>
            <a:spLocks noChangeArrowheads="1"/>
          </p:cNvSpPr>
          <p:nvPr/>
        </p:nvSpPr>
        <p:spPr bwMode="auto">
          <a:xfrm>
            <a:off x="0" y="4730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
        <p:nvSpPr>
          <p:cNvPr id="3" name="TextBox 2">
            <a:extLst>
              <a:ext uri="{FF2B5EF4-FFF2-40B4-BE49-F238E27FC236}">
                <a16:creationId xmlns:a16="http://schemas.microsoft.com/office/drawing/2014/main" id="{4BCB5705-41F2-F7AF-0388-BAE3EA6BDF40}"/>
              </a:ext>
            </a:extLst>
          </p:cNvPr>
          <p:cNvSpPr txBox="1"/>
          <p:nvPr/>
        </p:nvSpPr>
        <p:spPr>
          <a:xfrm>
            <a:off x="562940" y="1281820"/>
            <a:ext cx="11211244" cy="3170099"/>
          </a:xfrm>
          <a:prstGeom prst="rect">
            <a:avLst/>
          </a:prstGeom>
          <a:noFill/>
        </p:spPr>
        <p:txBody>
          <a:bodyPr wrap="square">
            <a:spAutoFit/>
          </a:bodyPr>
          <a:lstStyle/>
          <a:p>
            <a:pPr>
              <a:buNone/>
            </a:pPr>
            <a:r>
              <a:rPr lang="en-GB" sz="2000" b="1" dirty="0">
                <a:latin typeface="Times New Roman" panose="02020603050405020304" pitchFamily="18" charset="0"/>
                <a:cs typeface="Times New Roman" panose="02020603050405020304" pitchFamily="18" charset="0"/>
              </a:rPr>
              <a:t>Key Takeaways</a:t>
            </a:r>
            <a:endParaRPr lang="en-GB"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Geospatial models support smarter, safer pipeline planning</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Risk is highest near parks, settlements, and sharp curves</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ML and spatial tools improve decision-making across Africa</a:t>
            </a:r>
          </a:p>
          <a:p>
            <a:pPr>
              <a:buFont typeface="Arial" panose="020B0604020202020204" pitchFamily="34" charset="0"/>
              <a:buChar char="•"/>
            </a:pPr>
            <a:endParaRPr lang="en-GB" sz="2000" dirty="0">
              <a:latin typeface="Times New Roman" panose="02020603050405020304" pitchFamily="18" charset="0"/>
              <a:cs typeface="Times New Roman" panose="02020603050405020304" pitchFamily="18" charset="0"/>
            </a:endParaRPr>
          </a:p>
          <a:p>
            <a:endParaRPr lang="en-GB" sz="2000" dirty="0">
              <a:latin typeface="Times New Roman" panose="02020603050405020304" pitchFamily="18" charset="0"/>
              <a:cs typeface="Times New Roman" panose="02020603050405020304" pitchFamily="18" charset="0"/>
            </a:endParaRPr>
          </a:p>
          <a:p>
            <a:pPr>
              <a:buNone/>
            </a:pPr>
            <a:r>
              <a:rPr lang="en-GB" sz="2000" b="1" dirty="0">
                <a:latin typeface="Times New Roman" panose="02020603050405020304" pitchFamily="18" charset="0"/>
                <a:cs typeface="Times New Roman" panose="02020603050405020304" pitchFamily="18" charset="0"/>
              </a:rPr>
              <a:t>Impact</a:t>
            </a:r>
            <a:endParaRPr lang="en-GB"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Balances infrastructure growth with ecological protection</a:t>
            </a:r>
          </a:p>
          <a:p>
            <a:pPr>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Enables proactive planning and mitigation</a:t>
            </a:r>
          </a:p>
          <a:p>
            <a:endParaRPr lang="en-KE" sz="2000" dirty="0"/>
          </a:p>
        </p:txBody>
      </p:sp>
    </p:spTree>
    <p:extLst>
      <p:ext uri="{BB962C8B-B14F-4D97-AF65-F5344CB8AC3E}">
        <p14:creationId xmlns:p14="http://schemas.microsoft.com/office/powerpoint/2010/main" val="1980027658"/>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625243-B6C0-0256-2537-EFF82AA6991E}"/>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421FD31-3FDA-5EE1-E56C-9E66A1C34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509F4F91-2E68-1095-253A-0206C482652F}"/>
              </a:ext>
            </a:extLst>
          </p:cNvPr>
          <p:cNvPicPr>
            <a:picLocks noChangeAspect="1"/>
          </p:cNvPicPr>
          <p:nvPr/>
        </p:nvPicPr>
        <p:blipFill>
          <a:blip r:embed="rId2">
            <a:alphaModFix amt="49000"/>
          </a:blip>
          <a:srcRect t="20113" b="4888"/>
          <a:stretch/>
        </p:blipFill>
        <p:spPr>
          <a:xfrm>
            <a:off x="2" y="0"/>
            <a:ext cx="12191998" cy="6857848"/>
          </a:xfrm>
          <a:prstGeom prst="rect">
            <a:avLst/>
          </a:prstGeom>
          <a:blipFill dpi="0" rotWithShape="1">
            <a:blip r:embed="rId3">
              <a:alphaModFix amt="49000"/>
            </a:blip>
            <a:srcRect/>
            <a:tile tx="0" ty="0" sx="100000" sy="100000" flip="none" algn="tl"/>
          </a:blipFill>
        </p:spPr>
      </p:pic>
      <p:sp>
        <p:nvSpPr>
          <p:cNvPr id="25" name="Rectangle 24">
            <a:extLst>
              <a:ext uri="{FF2B5EF4-FFF2-40B4-BE49-F238E27FC236}">
                <a16:creationId xmlns:a16="http://schemas.microsoft.com/office/drawing/2014/main" id="{0C2B9F2D-1ACE-86EE-B75B-30005C959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5">
            <a:extLst>
              <a:ext uri="{FF2B5EF4-FFF2-40B4-BE49-F238E27FC236}">
                <a16:creationId xmlns:a16="http://schemas.microsoft.com/office/drawing/2014/main" id="{825C4C65-5C53-FD04-DBDC-D1EA22FEE432}"/>
              </a:ext>
            </a:extLst>
          </p:cNvPr>
          <p:cNvSpPr>
            <a:spLocks noGrp="1"/>
          </p:cNvSpPr>
          <p:nvPr>
            <p:ph type="subTitle" idx="1"/>
          </p:nvPr>
        </p:nvSpPr>
        <p:spPr>
          <a:xfrm>
            <a:off x="2894714" y="2606174"/>
            <a:ext cx="6402572" cy="1287887"/>
          </a:xfrm>
        </p:spPr>
        <p:txBody>
          <a:bodyPr anchor="b">
            <a:normAutofit/>
          </a:bodyPr>
          <a:lstStyle/>
          <a:p>
            <a:pPr algn="ctr"/>
            <a:r>
              <a:rPr lang="en-GB" sz="4800" dirty="0">
                <a:solidFill>
                  <a:srgbClr val="FFFFFF"/>
                </a:solidFill>
                <a:latin typeface="Times New Roman" panose="02020603050405020304" pitchFamily="18" charset="0"/>
                <a:cs typeface="Times New Roman" panose="02020603050405020304" pitchFamily="18" charset="0"/>
              </a:rPr>
              <a:t>Any QUESTIONS?</a:t>
            </a:r>
            <a:endParaRPr lang="en-KE" sz="4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6C5A3852-A76D-C942-129A-A6EA287CBE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1" name="Rectangle 7">
            <a:extLst>
              <a:ext uri="{FF2B5EF4-FFF2-40B4-BE49-F238E27FC236}">
                <a16:creationId xmlns:a16="http://schemas.microsoft.com/office/drawing/2014/main" id="{033702FB-E742-6177-F648-B0025A253FE6}"/>
              </a:ext>
            </a:extLst>
          </p:cNvPr>
          <p:cNvSpPr>
            <a:spLocks noChangeArrowheads="1"/>
          </p:cNvSpPr>
          <p:nvPr/>
        </p:nvSpPr>
        <p:spPr bwMode="auto">
          <a:xfrm>
            <a:off x="563348" y="2806800"/>
            <a:ext cx="98608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KE" altLang="en-KE" sz="1800" b="0" i="0" u="none" strike="noStrike" cap="none" normalizeH="0" baseline="0" dirty="0">
              <a:ln>
                <a:noFill/>
              </a:ln>
              <a:solidFill>
                <a:schemeClr val="tx1"/>
              </a:solidFill>
              <a:effectLst/>
              <a:latin typeface="Arial" panose="020B0604020202020204" pitchFamily="34" charset="0"/>
            </a:endParaRPr>
          </a:p>
        </p:txBody>
      </p:sp>
      <p:sp>
        <p:nvSpPr>
          <p:cNvPr id="12" name="Rectangle 8">
            <a:extLst>
              <a:ext uri="{FF2B5EF4-FFF2-40B4-BE49-F238E27FC236}">
                <a16:creationId xmlns:a16="http://schemas.microsoft.com/office/drawing/2014/main" id="{7324DCED-EAEB-58EE-AC30-F1C2F6DAE496}"/>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
        <p:nvSpPr>
          <p:cNvPr id="13" name="Rectangle 9">
            <a:extLst>
              <a:ext uri="{FF2B5EF4-FFF2-40B4-BE49-F238E27FC236}">
                <a16:creationId xmlns:a16="http://schemas.microsoft.com/office/drawing/2014/main" id="{461000AC-20CF-7D93-0A1A-56882A575B2A}"/>
              </a:ext>
            </a:extLst>
          </p:cNvPr>
          <p:cNvSpPr>
            <a:spLocks noChangeArrowheads="1"/>
          </p:cNvSpPr>
          <p:nvPr/>
        </p:nvSpPr>
        <p:spPr bwMode="auto">
          <a:xfrm>
            <a:off x="0" y="4730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Tree>
    <p:extLst>
      <p:ext uri="{BB962C8B-B14F-4D97-AF65-F5344CB8AC3E}">
        <p14:creationId xmlns:p14="http://schemas.microsoft.com/office/powerpoint/2010/main" val="3770119781"/>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a:extLst>
            <a:ext uri="{FF2B5EF4-FFF2-40B4-BE49-F238E27FC236}">
              <a16:creationId xmlns:a16="http://schemas.microsoft.com/office/drawing/2014/main" id="{00216425-615C-A6D2-6985-FAA7B94781C2}"/>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EBC2A0D-179F-D642-A0D2-CF371625E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ipes over the sea">
            <a:extLst>
              <a:ext uri="{FF2B5EF4-FFF2-40B4-BE49-F238E27FC236}">
                <a16:creationId xmlns:a16="http://schemas.microsoft.com/office/drawing/2014/main" id="{31E3AA84-1002-5471-9D08-0A6E3D28E248}"/>
              </a:ext>
            </a:extLst>
          </p:cNvPr>
          <p:cNvPicPr>
            <a:picLocks noChangeAspect="1"/>
          </p:cNvPicPr>
          <p:nvPr/>
        </p:nvPicPr>
        <p:blipFill>
          <a:blip r:embed="rId2">
            <a:alphaModFix amt="49000"/>
          </a:blip>
          <a:srcRect t="20113" b="4888"/>
          <a:stretch/>
        </p:blipFill>
        <p:spPr>
          <a:xfrm>
            <a:off x="2" y="0"/>
            <a:ext cx="12191998" cy="6857848"/>
          </a:xfrm>
          <a:prstGeom prst="rect">
            <a:avLst/>
          </a:prstGeom>
          <a:blipFill dpi="0" rotWithShape="1">
            <a:blip r:embed="rId3">
              <a:alphaModFix amt="49000"/>
            </a:blip>
            <a:srcRect/>
            <a:tile tx="0" ty="0" sx="100000" sy="100000" flip="none" algn="tl"/>
          </a:blipFill>
        </p:spPr>
      </p:pic>
      <p:sp>
        <p:nvSpPr>
          <p:cNvPr id="25" name="Rectangle 24">
            <a:extLst>
              <a:ext uri="{FF2B5EF4-FFF2-40B4-BE49-F238E27FC236}">
                <a16:creationId xmlns:a16="http://schemas.microsoft.com/office/drawing/2014/main" id="{A0CB9544-8012-1BEF-59EE-4DF809B8E9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5">
            <a:extLst>
              <a:ext uri="{FF2B5EF4-FFF2-40B4-BE49-F238E27FC236}">
                <a16:creationId xmlns:a16="http://schemas.microsoft.com/office/drawing/2014/main" id="{F57618B0-28AB-DB12-A7EC-6226C1F91CE3}"/>
              </a:ext>
            </a:extLst>
          </p:cNvPr>
          <p:cNvSpPr>
            <a:spLocks noGrp="1"/>
          </p:cNvSpPr>
          <p:nvPr>
            <p:ph type="subTitle" idx="1"/>
          </p:nvPr>
        </p:nvSpPr>
        <p:spPr>
          <a:xfrm>
            <a:off x="2894714" y="2606174"/>
            <a:ext cx="6402572" cy="1287887"/>
          </a:xfrm>
        </p:spPr>
        <p:txBody>
          <a:bodyPr anchor="b">
            <a:normAutofit/>
          </a:bodyPr>
          <a:lstStyle/>
          <a:p>
            <a:pPr algn="ctr"/>
            <a:r>
              <a:rPr lang="en-GB" sz="4800" dirty="0">
                <a:solidFill>
                  <a:srgbClr val="FFFFFF"/>
                </a:solidFill>
                <a:latin typeface="Times New Roman" panose="02020603050405020304" pitchFamily="18" charset="0"/>
                <a:cs typeface="Times New Roman" panose="02020603050405020304" pitchFamily="18" charset="0"/>
              </a:rPr>
              <a:t>THANK YOU</a:t>
            </a:r>
            <a:endParaRPr lang="en-KE" sz="4800" dirty="0">
              <a:solidFill>
                <a:srgbClr val="FFFFFF"/>
              </a:solidFill>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0C9DF2E6-B7EA-FE8B-9C53-EDCA6D3FD5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1" name="Rectangle 7">
            <a:extLst>
              <a:ext uri="{FF2B5EF4-FFF2-40B4-BE49-F238E27FC236}">
                <a16:creationId xmlns:a16="http://schemas.microsoft.com/office/drawing/2014/main" id="{AC3FB30E-1FE1-ABAC-3443-669007D950E3}"/>
              </a:ext>
            </a:extLst>
          </p:cNvPr>
          <p:cNvSpPr>
            <a:spLocks noChangeArrowheads="1"/>
          </p:cNvSpPr>
          <p:nvPr/>
        </p:nvSpPr>
        <p:spPr bwMode="auto">
          <a:xfrm>
            <a:off x="563348" y="2806800"/>
            <a:ext cx="98608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KE" altLang="en-KE" sz="1800" b="0" i="0" u="none" strike="noStrike" cap="none" normalizeH="0" baseline="0" dirty="0">
              <a:ln>
                <a:noFill/>
              </a:ln>
              <a:solidFill>
                <a:schemeClr val="tx1"/>
              </a:solidFill>
              <a:effectLst/>
              <a:latin typeface="Arial" panose="020B0604020202020204" pitchFamily="34" charset="0"/>
            </a:endParaRPr>
          </a:p>
        </p:txBody>
      </p:sp>
      <p:sp>
        <p:nvSpPr>
          <p:cNvPr id="12" name="Rectangle 8">
            <a:extLst>
              <a:ext uri="{FF2B5EF4-FFF2-40B4-BE49-F238E27FC236}">
                <a16:creationId xmlns:a16="http://schemas.microsoft.com/office/drawing/2014/main" id="{CC74FEA6-2519-D11E-4576-EC311B8B3DC7}"/>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
        <p:nvSpPr>
          <p:cNvPr id="13" name="Rectangle 9">
            <a:extLst>
              <a:ext uri="{FF2B5EF4-FFF2-40B4-BE49-F238E27FC236}">
                <a16:creationId xmlns:a16="http://schemas.microsoft.com/office/drawing/2014/main" id="{A391728B-E1D3-386F-8B1E-B22950FEEA5A}"/>
              </a:ext>
            </a:extLst>
          </p:cNvPr>
          <p:cNvSpPr>
            <a:spLocks noChangeArrowheads="1"/>
          </p:cNvSpPr>
          <p:nvPr/>
        </p:nvSpPr>
        <p:spPr bwMode="auto">
          <a:xfrm>
            <a:off x="0" y="4730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KE"/>
          </a:p>
        </p:txBody>
      </p:sp>
    </p:spTree>
    <p:extLst>
      <p:ext uri="{BB962C8B-B14F-4D97-AF65-F5344CB8AC3E}">
        <p14:creationId xmlns:p14="http://schemas.microsoft.com/office/powerpoint/2010/main" val="3808707477"/>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10224</TotalTime>
  <Words>1175</Words>
  <Application>Microsoft Office PowerPoint</Application>
  <PresentationFormat>Widescreen</PresentationFormat>
  <Paragraphs>133</Paragraphs>
  <Slides>28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Arial</vt:lpstr>
      <vt:lpstr>Consolas</vt:lpstr>
      <vt:lpstr>Grandview Display</vt:lpstr>
      <vt:lpstr>Times New Roman</vt:lpstr>
      <vt:lpstr>Wingdings</vt:lpstr>
      <vt:lpstr>DashVTI</vt:lpstr>
      <vt:lpstr>  Pipeline Risk AI:  Predicting Environmental Assessment on Kenya Oil Infrastructure </vt:lpstr>
      <vt:lpstr>PowerPoint Presentation</vt:lpstr>
      <vt:lpstr>Kenya and Africa more broadly are experiencing rapid growth in energy infrastructure, including new oil and gas pipelines. However, many of these projects intersect with sensitive ecological and social areas such as: -Human settlements -Roads and highways -Waterways and lakes Forest reserves and national parks  Why It Matters: -Environmental degradation -Legal and financial liabilities -Disruption to communities and biodiversity -Infrastructure inefficiency and public opposition </vt:lpstr>
      <vt:lpstr>Main Objective: To develop a predictive model that evaluates and optimizes oil and gas pipeline routes based on environmental risk and infrastructure cost, with a focus on Kenya and scalable use across Africa. Supporting Goals: Integrate geospatial layers (settlements, roads, rivers, lakes, national parks) Use machine learning to simulate and improve routing decisions Reduce future risks and delays through proactive planning  Success Metrics: Minimized risk-weighted cost Improved environmental and community safety Alignment with existing infrastructure for cost efficiency</vt:lpstr>
      <vt:lpstr> As Kenya expands its oil and gas infrastructure, the placement of pipelines may pose a significant environmental threat.  Many of these projects are routed through or near ecologically sensitive areas such as forests, water bodies, and protected lands.  Traditional impact assessments are slow, costly, and often reactive.  This project aims to automate the environmental risk assessment process by evaluating a  deep learning model that uses geospatial and pipeline metadata to classify infrastructure as high or low risk. Suitable or unsuitable and using spatial proximity to settlement.</vt:lpstr>
      <vt:lpstr>Which pipeline segments are in or near high-risk population areas? How does settlement and ecological features influence pipeline compliance? Which segments violate the minimum safe distance regulations?</vt:lpstr>
      <vt:lpstr> Environmental Agencies: For fast, data-driven environmental review of proposed projects. Oil &amp; Gas Developers: To identify and reduce environmental risks during pipeline planning. NGOs &amp; Watchdogs: For advocacy and monitoring of high-risk developments. Policy Makers: To inform regulations and infrastructure zoning strategies.</vt:lpstr>
      <vt:lpstr> </vt:lpstr>
      <vt:lpstr> </vt:lpstr>
      <vt:lpstr> Using Python and GeoPandas it: Convert geometry linestring into pipeline lengths Calculate proximity to water bodies and protected areas Extract GPS point sequences from geometry for RL modeling Label pipelines as high/low environmental risk based on rules (e.g., length, proximity) Encode categorical attributes (route type) and normalize numerical ones</vt:lpstr>
      <vt:lpstr>PowerPoint Presentation</vt:lpstr>
      <vt:lpstr>Atleast 2/3 of pipelines in Kenya are above groundhfdh</vt:lpstr>
      <vt:lpstr>Atleast 2/3 of pipelines in Kenya are above ground</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Michelle Kavetza</dc:creator>
  <cp:lastModifiedBy>Michelle Kavetza</cp:lastModifiedBy>
  <cp:revision>8</cp:revision>
  <dcterms:created xsi:type="dcterms:W3CDTF">2025-04-14T22:14:13Z</dcterms:created>
  <dcterms:modified xsi:type="dcterms:W3CDTF">2025-06-21T10:08:34Z</dcterms:modified>
</cp:coreProperties>
</file>